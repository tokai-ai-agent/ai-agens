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6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沙綺 篠原" userId="b69e1700cb10aecf" providerId="LiveId" clId="{766E9A09-E5B0-4F80-A6CB-296AC798DDF3}"/>
    <pc:docChg chg="custSel modSld">
      <pc:chgData name="沙綺 篠原" userId="b69e1700cb10aecf" providerId="LiveId" clId="{766E9A09-E5B0-4F80-A6CB-296AC798DDF3}" dt="2026-07-31T18:02:29.775" v="1" actId="21"/>
      <pc:docMkLst>
        <pc:docMk/>
      </pc:docMkLst>
      <pc:sldChg chg="delSp mod">
        <pc:chgData name="沙綺 篠原" userId="b69e1700cb10aecf" providerId="LiveId" clId="{766E9A09-E5B0-4F80-A6CB-296AC798DDF3}" dt="2026-07-31T18:02:29.775" v="1" actId="21"/>
        <pc:sldMkLst>
          <pc:docMk/>
          <pc:sldMk cId="1616319030" sldId="259"/>
        </pc:sldMkLst>
        <pc:spChg chg="del">
          <ac:chgData name="沙綺 篠原" userId="b69e1700cb10aecf" providerId="LiveId" clId="{766E9A09-E5B0-4F80-A6CB-296AC798DDF3}" dt="2026-07-31T18:02:24.887" v="0" actId="21"/>
          <ac:spMkLst>
            <pc:docMk/>
            <pc:sldMk cId="1616319030" sldId="259"/>
            <ac:spMk id="6" creationId="{9646A122-FEFE-4A12-B229-4CB0C7CB918C}"/>
          </ac:spMkLst>
        </pc:spChg>
        <pc:spChg chg="del">
          <ac:chgData name="沙綺 篠原" userId="b69e1700cb10aecf" providerId="LiveId" clId="{766E9A09-E5B0-4F80-A6CB-296AC798DDF3}" dt="2026-07-31T18:02:29.775" v="1" actId="21"/>
          <ac:spMkLst>
            <pc:docMk/>
            <pc:sldMk cId="1616319030" sldId="259"/>
            <ac:spMk id="8" creationId="{CB9270F8-1051-499C-B6B7-F2C71B605B3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ローカルWebアプリの実行画面（本プロジェクト）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ローカルWebアプリの実行画面（本プロジェクト）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ローカルWebアプリの実行画面（本プロジェクト）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ローカルWebアプリの実行画面（本プロジェクト）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ローカルWebアプリの実行画面／地図: OpenStreetMap contributors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ローカルWebアプリの実行画面（本プロジェクト）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ローカルWebアプリの実行画面（本プロジェクト）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">
            <a:extLst>
              <a:ext uri="{FF2B5EF4-FFF2-40B4-BE49-F238E27FC236}">
                <a16:creationId xmlns:a16="http://schemas.microsoft.com/office/drawing/2014/main" id="{37210591-6550-4BDE-974A-8803FC3876C9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F80E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F80ED"/>
                </a:solidFill>
                <a:latin typeface="Yu Gothic"/>
                <a:ea typeface="Yu Gothic"/>
                <a:cs typeface="Yu Gothic"/>
              </a:rPr>
              <a:t>TRAVEL AI AGENT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B45F47-7C32-49E9-9916-C0F88D6CBA97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67627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8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48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「行きたい」が</a:t>
            </a:r>
          </a:p>
          <a:p>
            <a:pPr algn="l">
              <a:defRPr sz="48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48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2分で旅程になる。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6DDE5AA-DB4C-463C-960A-5D72DE3B5A1E}"/>
              </a:ext>
            </a:extLst>
          </p:cNvPr>
          <p:cNvSpPr>
            <a:spLocks noGrp="1"/>
          </p:cNvSpPr>
          <p:nvPr/>
        </p:nvSpPr>
        <p:spPr>
          <a:xfrm>
            <a:off x="400050" y="4333875"/>
            <a:ext cx="62865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AIと会話するだけで、時間・食・写真・移動まで。</a:t>
            </a:r>
          </a:p>
          <a:p>
            <a:pPr algn="l">
              <a:defRPr sz="187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旅行計画の「面倒」を、「楽しい」に変えるWebアプリ。</a:t>
            </a: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3"/>
          <a:srcRect l="27486" r="27486"/>
          <a:stretch>
            <a:fillRect/>
          </a:stretch>
        </p:blipFill>
        <p:spPr>
          <a:xfrm>
            <a:off x="7524750" y="819150"/>
            <a:ext cx="4191000" cy="5238750"/>
          </a:xfrm>
          <a:prstGeom prst="roundRect">
            <a:avLst>
              <a:gd name="adj" fmla="val 2727"/>
            </a:avLst>
          </a:prstGeom>
        </p:spPr>
      </p:pic>
      <p:sp>
        <p:nvSpPr>
          <p:cNvPr id="5" name="accent">
            <a:extLst>
              <a:ext uri="{FF2B5EF4-FFF2-40B4-BE49-F238E27FC236}">
                <a16:creationId xmlns:a16="http://schemas.microsoft.com/office/drawing/2014/main" id="{2BD6CB13-F39F-40D3-8BCF-1E5BF9627625}"/>
              </a:ext>
            </a:extLst>
          </p:cNvPr>
          <p:cNvSpPr>
            <a:spLocks noGrp="1"/>
          </p:cNvSpPr>
          <p:nvPr/>
        </p:nvSpPr>
        <p:spPr>
          <a:xfrm>
            <a:off x="7239000" y="819150"/>
            <a:ext cx="76200" cy="5238750"/>
          </a:xfrm>
          <a:prstGeom prst="rect">
            <a:avLst/>
          </a:prstGeom>
          <a:solidFill>
            <a:srgbClr val="56CCF2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97658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7F8482D8-844C-45A4-B8B8-DC09ED97125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旅行計画は、3つの会話で動き出す</a:t>
            </a:r>
          </a:p>
        </p:txBody>
      </p:sp>
      <p:sp>
        <p:nvSpPr>
          <p:cNvPr id="2" name="rule">
            <a:extLst>
              <a:ext uri="{FF2B5EF4-FFF2-40B4-BE49-F238E27FC236}">
                <a16:creationId xmlns:a16="http://schemas.microsoft.com/office/drawing/2014/main" id="{D5D3FFC2-058B-4323-9561-652DFD9A59F5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11391900" cy="19050"/>
          </a:xfrm>
          <a:prstGeom prst="rect">
            <a:avLst/>
          </a:prstGeom>
          <a:solidFill>
            <a:srgbClr val="10182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dot0">
            <a:extLst>
              <a:ext uri="{FF2B5EF4-FFF2-40B4-BE49-F238E27FC236}">
                <a16:creationId xmlns:a16="http://schemas.microsoft.com/office/drawing/2014/main" id="{E6395DD4-392C-4B4D-BB52-DA24D76646A7}"/>
              </a:ext>
            </a:extLst>
          </p:cNvPr>
          <p:cNvSpPr>
            <a:spLocks noGrp="1"/>
          </p:cNvSpPr>
          <p:nvPr/>
        </p:nvSpPr>
        <p:spPr>
          <a:xfrm>
            <a:off x="400050" y="3276600"/>
            <a:ext cx="114300" cy="1143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lab0">
            <a:extLst>
              <a:ext uri="{FF2B5EF4-FFF2-40B4-BE49-F238E27FC236}">
                <a16:creationId xmlns:a16="http://schemas.microsoft.com/office/drawing/2014/main" id="{72212E32-BD60-4255-A068-C114EC1F2EF3}"/>
              </a:ext>
            </a:extLst>
          </p:cNvPr>
          <p:cNvSpPr>
            <a:spLocks noGrp="1"/>
          </p:cNvSpPr>
          <p:nvPr/>
        </p:nvSpPr>
        <p:spPr>
          <a:xfrm>
            <a:off x="400050" y="2781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F80ED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F80ED"/>
                </a:solidFill>
                <a:latin typeface="Yu Gothic"/>
                <a:ea typeface="Yu Gothic"/>
                <a:cs typeface="Yu Gothic"/>
              </a:rPr>
              <a:t>01  条件を話す</a:t>
            </a:r>
          </a:p>
        </p:txBody>
      </p:sp>
      <p:sp>
        <p:nvSpPr>
          <p:cNvPr id="5" name="body0">
            <a:extLst>
              <a:ext uri="{FF2B5EF4-FFF2-40B4-BE49-F238E27FC236}">
                <a16:creationId xmlns:a16="http://schemas.microsoft.com/office/drawing/2014/main" id="{12620DB0-213F-4930-A67E-6E905B852178}"/>
              </a:ext>
            </a:extLst>
          </p:cNvPr>
          <p:cNvSpPr>
            <a:spLocks noGrp="1"/>
          </p:cNvSpPr>
          <p:nvPr/>
        </p:nvSpPr>
        <p:spPr>
          <a:xfrm>
            <a:off x="400050" y="3810000"/>
            <a:ext cx="3143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京都・1泊2日</a:t>
            </a:r>
          </a:p>
          <a:p>
            <a:pPr algn="l">
              <a:defRPr sz="210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予算5万円</a:t>
            </a:r>
          </a:p>
          <a:p>
            <a:pPr algn="l">
              <a:defRPr sz="210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観光＋グルメ＋写真映え</a:t>
            </a:r>
          </a:p>
        </p:txBody>
      </p:sp>
      <p:sp>
        <p:nvSpPr>
          <p:cNvPr id="6" name="dot1">
            <a:extLst>
              <a:ext uri="{FF2B5EF4-FFF2-40B4-BE49-F238E27FC236}">
                <a16:creationId xmlns:a16="http://schemas.microsoft.com/office/drawing/2014/main" id="{F4F8618D-DFD4-48A7-863E-07DF67AAAFC3}"/>
              </a:ext>
            </a:extLst>
          </p:cNvPr>
          <p:cNvSpPr>
            <a:spLocks noGrp="1"/>
          </p:cNvSpPr>
          <p:nvPr/>
        </p:nvSpPr>
        <p:spPr>
          <a:xfrm>
            <a:off x="4286250" y="3276600"/>
            <a:ext cx="114300" cy="1143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lab1">
            <a:extLst>
              <a:ext uri="{FF2B5EF4-FFF2-40B4-BE49-F238E27FC236}">
                <a16:creationId xmlns:a16="http://schemas.microsoft.com/office/drawing/2014/main" id="{0CDB15F6-3455-47EA-A6AA-DA1AC7E979B9}"/>
              </a:ext>
            </a:extLst>
          </p:cNvPr>
          <p:cNvSpPr>
            <a:spLocks noGrp="1"/>
          </p:cNvSpPr>
          <p:nvPr/>
        </p:nvSpPr>
        <p:spPr>
          <a:xfrm>
            <a:off x="4286250" y="2781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F80ED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F80ED"/>
                </a:solidFill>
                <a:latin typeface="Yu Gothic"/>
                <a:ea typeface="Yu Gothic"/>
                <a:cs typeface="Yu Gothic"/>
              </a:rPr>
              <a:t>02  AIが調べる</a:t>
            </a:r>
          </a:p>
        </p:txBody>
      </p:sp>
      <p:sp>
        <p:nvSpPr>
          <p:cNvPr id="8" name="body1">
            <a:extLst>
              <a:ext uri="{FF2B5EF4-FFF2-40B4-BE49-F238E27FC236}">
                <a16:creationId xmlns:a16="http://schemas.microsoft.com/office/drawing/2014/main" id="{04F0BF18-64F4-4BB5-BB03-901994D66B77}"/>
              </a:ext>
            </a:extLst>
          </p:cNvPr>
          <p:cNvSpPr>
            <a:spLocks noGrp="1"/>
          </p:cNvSpPr>
          <p:nvPr/>
        </p:nvSpPr>
        <p:spPr>
          <a:xfrm>
            <a:off x="4286250" y="3810000"/>
            <a:ext cx="3143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Web情報を参照し</a:t>
            </a:r>
          </a:p>
          <a:p>
            <a:pPr algn="l">
              <a:defRPr sz="210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スポット・移動・滞在時間を</a:t>
            </a:r>
          </a:p>
          <a:p>
            <a:pPr algn="l">
              <a:defRPr sz="2100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ひとつのプランに</a:t>
            </a:r>
          </a:p>
        </p:txBody>
      </p:sp>
      <p:sp>
        <p:nvSpPr>
          <p:cNvPr id="9" name="dot2">
            <a:extLst>
              <a:ext uri="{FF2B5EF4-FFF2-40B4-BE49-F238E27FC236}">
                <a16:creationId xmlns:a16="http://schemas.microsoft.com/office/drawing/2014/main" id="{32050395-A9EF-40EE-ABA9-80C3E5F5E4AC}"/>
              </a:ext>
            </a:extLst>
          </p:cNvPr>
          <p:cNvSpPr>
            <a:spLocks noGrp="1"/>
          </p:cNvSpPr>
          <p:nvPr/>
        </p:nvSpPr>
        <p:spPr>
          <a:xfrm>
            <a:off x="8172450" y="3276600"/>
            <a:ext cx="114300" cy="1143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lab2">
            <a:extLst>
              <a:ext uri="{FF2B5EF4-FFF2-40B4-BE49-F238E27FC236}">
                <a16:creationId xmlns:a16="http://schemas.microsoft.com/office/drawing/2014/main" id="{C3E767AB-E42D-49A0-83F5-429CDD76971E}"/>
              </a:ext>
            </a:extLst>
          </p:cNvPr>
          <p:cNvSpPr>
            <a:spLocks noGrp="1"/>
          </p:cNvSpPr>
          <p:nvPr/>
        </p:nvSpPr>
        <p:spPr>
          <a:xfrm>
            <a:off x="8172450" y="2781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F80ED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F80ED"/>
                </a:solidFill>
                <a:latin typeface="Yu Gothic"/>
                <a:ea typeface="Yu Gothic"/>
                <a:cs typeface="Yu Gothic"/>
              </a:rPr>
              <a:t>03  旅程が現れる</a:t>
            </a:r>
          </a:p>
        </p:txBody>
      </p:sp>
      <p:sp>
        <p:nvSpPr>
          <p:cNvPr id="11" name="body2">
            <a:extLst>
              <a:ext uri="{FF2B5EF4-FFF2-40B4-BE49-F238E27FC236}">
                <a16:creationId xmlns:a16="http://schemas.microsoft.com/office/drawing/2014/main" id="{74EA3BEE-A3C1-450A-A38C-391A6B6EC5CA}"/>
              </a:ext>
            </a:extLst>
          </p:cNvPr>
          <p:cNvSpPr>
            <a:spLocks noGrp="1"/>
          </p:cNvSpPr>
          <p:nvPr/>
        </p:nvSpPr>
        <p:spPr>
          <a:xfrm>
            <a:off x="8172450" y="3810000"/>
            <a:ext cx="3143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タイムライン</a:t>
            </a:r>
          </a:p>
          <a:p>
            <a:pPr algn="l">
              <a:def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ルート地図</a:t>
            </a:r>
          </a:p>
          <a:p>
            <a:pPr algn="l">
              <a:def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おすすめ情報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65B022C0-9F9D-4E49-B393-1BE0CE144ECF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入力フォームではなく、会話のテンポで条件が整う。</a:t>
            </a:r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38409BB3-13E2-4BA8-855A-5A2A4225D427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5235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FD8BD87B-288A-47B9-9DD3-F3565E798C2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391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「京都に行きたい」の先まで、AIが書き込む</a:t>
            </a:r>
          </a:p>
        </p:txBody>
      </p:sp>
      <p:sp>
        <p:nvSpPr>
          <p:cNvPr id="2" name="big">
            <a:extLst>
              <a:ext uri="{FF2B5EF4-FFF2-40B4-BE49-F238E27FC236}">
                <a16:creationId xmlns:a16="http://schemas.microsoft.com/office/drawing/2014/main" id="{8D14FC87-CB53-4DB4-A1D5-B1C8B79F4606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4572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王道観光</a:t>
            </a:r>
          </a:p>
          <a:p>
            <a:pPr algn="l">
              <a:defRPr sz="36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×</a:t>
            </a:r>
          </a:p>
          <a:p>
            <a:pPr algn="l">
              <a:defRPr sz="36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写真映え</a:t>
            </a:r>
          </a:p>
          <a:p>
            <a:pPr algn="l">
              <a:defRPr sz="36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×</a:t>
            </a:r>
          </a:p>
          <a:p>
            <a:pPr algn="l">
              <a:defRPr sz="360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京グルメ</a:t>
            </a:r>
          </a:p>
        </p:txBody>
      </p:sp>
      <p:sp>
        <p:nvSpPr>
          <p:cNvPr id="3" name="small">
            <a:extLst>
              <a:ext uri="{FF2B5EF4-FFF2-40B4-BE49-F238E27FC236}">
                <a16:creationId xmlns:a16="http://schemas.microsoft.com/office/drawing/2014/main" id="{FCD216F2-7F5B-41D9-9D41-075E21B7E4EB}"/>
              </a:ext>
            </a:extLst>
          </p:cNvPr>
          <p:cNvSpPr>
            <a:spLocks noGrp="1"/>
          </p:cNvSpPr>
          <p:nvPr/>
        </p:nvSpPr>
        <p:spPr>
          <a:xfrm>
            <a:off x="400050" y="4857750"/>
            <a:ext cx="49530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東京発・1泊2日・1人5万円。</a:t>
            </a:r>
          </a:p>
          <a:p>
            <a:pPr algn="l">
              <a:defRPr sz="17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テーマがヒーロー画面になり、</a:t>
            </a:r>
          </a:p>
          <a:p>
            <a:pPr algn="l">
              <a:defRPr sz="17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旅のムードが一目で伝わる。</a:t>
            </a: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3"/>
          <a:srcRect l="17443" r="17443"/>
          <a:stretch>
            <a:fillRect/>
          </a:stretch>
        </p:blipFill>
        <p:spPr>
          <a:xfrm>
            <a:off x="6191250" y="1190625"/>
            <a:ext cx="5619750" cy="4857750"/>
          </a:xfrm>
          <a:prstGeom prst="roundRect">
            <a:avLst>
              <a:gd name="adj" fmla="val 2353"/>
            </a:avLst>
          </a:prstGeom>
        </p:spPr>
      </p:pic>
      <p:sp>
        <p:nvSpPr>
          <p:cNvPr id="5" name="footer">
            <a:extLst>
              <a:ext uri="{FF2B5EF4-FFF2-40B4-BE49-F238E27FC236}">
                <a16:creationId xmlns:a16="http://schemas.microsoft.com/office/drawing/2014/main" id="{A10CCE39-3959-481D-A1D5-B4D9B2259152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3144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/>
          <p:cNvPicPr>
            <a:picLocks noChangeAspect="1"/>
          </p:cNvPicPr>
          <p:nvPr/>
        </p:nvPicPr>
        <p:blipFill>
          <a:blip r:embed="rId3"/>
          <a:srcRect l="7787" r="7787"/>
          <a:stretch>
            <a:fillRect/>
          </a:stretch>
        </p:blipFill>
        <p:spPr>
          <a:xfrm>
            <a:off x="400050" y="1314450"/>
            <a:ext cx="7429500" cy="4953000"/>
          </a:xfrm>
          <a:prstGeom prst="roundRect">
            <a:avLst>
              <a:gd name="adj" fmla="val 2308"/>
            </a:avLst>
          </a:prstGeom>
        </p:spPr>
      </p:pic>
      <p:sp>
        <p:nvSpPr>
          <p:cNvPr id="3" name="callout1">
            <a:extLst>
              <a:ext uri="{FF2B5EF4-FFF2-40B4-BE49-F238E27FC236}">
                <a16:creationId xmlns:a16="http://schemas.microsoft.com/office/drawing/2014/main" id="{AD7F733D-C8D9-495A-8C22-3B508BB50DF3}"/>
              </a:ext>
            </a:extLst>
          </p:cNvPr>
          <p:cNvSpPr>
            <a:spLocks noGrp="1"/>
          </p:cNvSpPr>
          <p:nvPr/>
        </p:nvSpPr>
        <p:spPr>
          <a:xfrm>
            <a:off x="8286750" y="1476375"/>
            <a:ext cx="295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F80E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F80ED"/>
                </a:solidFill>
                <a:latin typeface="Yu Gothic"/>
                <a:ea typeface="Yu Gothic"/>
                <a:cs typeface="Yu Gothic"/>
              </a:rPr>
              <a:t>07:30</a:t>
            </a:r>
          </a:p>
          <a:p>
            <a:pPr algn="l">
              <a:defRPr sz="2250" b="1">
                <a:solidFill>
                  <a:srgbClr val="2F80ED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F80ED"/>
                </a:solidFill>
                <a:latin typeface="Yu Gothic"/>
                <a:ea typeface="Yu Gothic"/>
                <a:cs typeface="Yu Gothic"/>
              </a:rPr>
              <a:t>東京駅を出発</a:t>
            </a:r>
          </a:p>
        </p:txBody>
      </p:sp>
      <p:sp>
        <p:nvSpPr>
          <p:cNvPr id="4" name="callout2">
            <a:extLst>
              <a:ext uri="{FF2B5EF4-FFF2-40B4-BE49-F238E27FC236}">
                <a16:creationId xmlns:a16="http://schemas.microsoft.com/office/drawing/2014/main" id="{1C6E0269-97D8-4F35-BF0B-489F7CA92C3A}"/>
              </a:ext>
            </a:extLst>
          </p:cNvPr>
          <p:cNvSpPr>
            <a:spLocks noGrp="1"/>
          </p:cNvSpPr>
          <p:nvPr/>
        </p:nvSpPr>
        <p:spPr>
          <a:xfrm>
            <a:off x="8286750" y="2714625"/>
            <a:ext cx="295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10:30</a:t>
            </a:r>
          </a:p>
          <a:p>
            <a:pPr algn="l">
              <a:defRPr sz="22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東寺の五重塔へ</a:t>
            </a:r>
          </a:p>
        </p:txBody>
      </p:sp>
      <p:sp>
        <p:nvSpPr>
          <p:cNvPr id="5" name="callout3">
            <a:extLst>
              <a:ext uri="{FF2B5EF4-FFF2-40B4-BE49-F238E27FC236}">
                <a16:creationId xmlns:a16="http://schemas.microsoft.com/office/drawing/2014/main" id="{266E77E5-58CF-48A6-8ADA-F6B18E46F317}"/>
              </a:ext>
            </a:extLst>
          </p:cNvPr>
          <p:cNvSpPr>
            <a:spLocks noGrp="1"/>
          </p:cNvSpPr>
          <p:nvPr/>
        </p:nvSpPr>
        <p:spPr>
          <a:xfrm>
            <a:off x="8286750" y="3952875"/>
            <a:ext cx="3143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13:30</a:t>
            </a:r>
          </a:p>
          <a:p>
            <a:pPr algn="l">
              <a:defRPr sz="22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清水寺から産寧坂へ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AF561298-53F0-42D1-B307-E9F3E62D6FDE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6319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EDAEF9B3-BBF0-4E87-B42D-0CF23732A62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391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9スポットが、地図の上で「行けそう」に変わる</a:t>
            </a: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3"/>
          <a:srcRect l="8869" r="8869"/>
          <a:stretch>
            <a:fillRect/>
          </a:stretch>
        </p:blipFill>
        <p:spPr>
          <a:xfrm>
            <a:off x="400050" y="1285875"/>
            <a:ext cx="7239000" cy="4953000"/>
          </a:xfrm>
          <a:prstGeom prst="roundRect">
            <a:avLst>
              <a:gd name="adj" fmla="val 2308"/>
            </a:avLst>
          </a:prstGeom>
        </p:spPr>
      </p:pic>
      <p:sp>
        <p:nvSpPr>
          <p:cNvPr id="3" name="stat">
            <a:extLst>
              <a:ext uri="{FF2B5EF4-FFF2-40B4-BE49-F238E27FC236}">
                <a16:creationId xmlns:a16="http://schemas.microsoft.com/office/drawing/2014/main" id="{2B9CCA22-157D-47B2-9335-FE4368FC1E52}"/>
              </a:ext>
            </a:extLst>
          </p:cNvPr>
          <p:cNvSpPr>
            <a:spLocks noGrp="1"/>
          </p:cNvSpPr>
          <p:nvPr/>
        </p:nvSpPr>
        <p:spPr>
          <a:xfrm>
            <a:off x="8286750" y="1428750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6600" b="1">
                <a:solidFill>
                  <a:srgbClr val="2F80ED"/>
                </a:solidFill>
                <a:latin typeface="Yu Gothic"/>
                <a:ea typeface="Yu Gothic"/>
                <a:cs typeface="Yu Gothic"/>
              </a:defRPr>
            </a:pPr>
            <a:r>
              <a:rPr sz="6600" b="1">
                <a:solidFill>
                  <a:srgbClr val="2F80ED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4" name="stat-label">
            <a:extLst>
              <a:ext uri="{FF2B5EF4-FFF2-40B4-BE49-F238E27FC236}">
                <a16:creationId xmlns:a16="http://schemas.microsoft.com/office/drawing/2014/main" id="{FFF56CBB-86CB-4650-B986-782395F2AE3E}"/>
              </a:ext>
            </a:extLst>
          </p:cNvPr>
          <p:cNvSpPr>
            <a:spLocks noGrp="1"/>
          </p:cNvSpPr>
          <p:nvPr/>
        </p:nvSpPr>
        <p:spPr>
          <a:xfrm>
            <a:off x="8334375" y="254317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訪問スポット</a:t>
            </a:r>
          </a:p>
        </p:txBody>
      </p:sp>
      <p:sp>
        <p:nvSpPr>
          <p:cNvPr id="5" name="detail">
            <a:extLst>
              <a:ext uri="{FF2B5EF4-FFF2-40B4-BE49-F238E27FC236}">
                <a16:creationId xmlns:a16="http://schemas.microsoft.com/office/drawing/2014/main" id="{1B06412C-17BD-4C71-811D-9B1ADE53356B}"/>
              </a:ext>
            </a:extLst>
          </p:cNvPr>
          <p:cNvSpPr>
            <a:spLocks noGrp="1"/>
          </p:cNvSpPr>
          <p:nvPr/>
        </p:nvSpPr>
        <p:spPr>
          <a:xfrm>
            <a:off x="8334375" y="3238500"/>
            <a:ext cx="31432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1日目と2日目を色分け。</a:t>
            </a:r>
          </a:p>
          <a:p>
            <a:pPr algn="l">
              <a:defRPr sz="187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訪問順と移動の距離感が、</a:t>
            </a:r>
          </a:p>
          <a:p>
            <a:pPr algn="l">
              <a:defRPr sz="1875" b="0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プランと同じ画面で分かる。</a:t>
            </a:r>
          </a:p>
        </p:txBody>
      </p:sp>
      <p:sp>
        <p:nvSpPr>
          <p:cNvPr id="6" name="meaning">
            <a:extLst>
              <a:ext uri="{FF2B5EF4-FFF2-40B4-BE49-F238E27FC236}">
                <a16:creationId xmlns:a16="http://schemas.microsoft.com/office/drawing/2014/main" id="{A26373F3-7DC8-4702-8DA7-39B8E37572CA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2994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2994A"/>
                </a:solidFill>
                <a:latin typeface="Yu Gothic"/>
                <a:ea typeface="Yu Gothic"/>
                <a:cs typeface="Yu Gothic"/>
              </a:rPr>
              <a:t>「これ、本当に回れる？」</a:t>
            </a:r>
          </a:p>
          <a:p>
            <a:pPr algn="l">
              <a:defRPr sz="2100" b="1">
                <a:solidFill>
                  <a:srgbClr val="F2994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2994A"/>
                </a:solidFill>
                <a:latin typeface="Yu Gothic"/>
                <a:ea typeface="Yu Gothic"/>
                <a:cs typeface="Yu Gothic"/>
              </a:rPr>
              <a:t>という不安を、地図が消す。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7BB49ED6-93E3-4C30-900D-E67FEFAB0459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2037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>
            <a:extLst>
              <a:ext uri="{FF2B5EF4-FFF2-40B4-BE49-F238E27FC236}">
                <a16:creationId xmlns:a16="http://schemas.microsoft.com/office/drawing/2014/main" id="{90235EF0-9717-4D3D-AA6E-FAF57A7777C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113919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完成が終点じゃない。一言で、旅は何度でも変わる</a:t>
            </a:r>
          </a:p>
        </p:txBody>
      </p:sp>
      <p:sp>
        <p:nvSpPr>
          <p:cNvPr id="2" name="card0">
            <a:extLst>
              <a:ext uri="{FF2B5EF4-FFF2-40B4-BE49-F238E27FC236}">
                <a16:creationId xmlns:a16="http://schemas.microsoft.com/office/drawing/2014/main" id="{2DA61230-7006-42EC-8840-2B05A0BD0EA4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3571875" cy="3476625"/>
          </a:xfrm>
          <a:prstGeom prst="roundRect">
            <a:avLst>
              <a:gd name="adj" fmla="val 3288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num0">
            <a:extLst>
              <a:ext uri="{FF2B5EF4-FFF2-40B4-BE49-F238E27FC236}">
                <a16:creationId xmlns:a16="http://schemas.microsoft.com/office/drawing/2014/main" id="{64B82A8B-0125-4A94-8A33-CDC2EFFD5B91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F80ED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F80ED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" name="head0">
            <a:extLst>
              <a:ext uri="{FF2B5EF4-FFF2-40B4-BE49-F238E27FC236}">
                <a16:creationId xmlns:a16="http://schemas.microsoft.com/office/drawing/2014/main" id="{82C1E828-DD9B-4333-A109-35930409696F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3000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もっとゆっくり</a:t>
            </a:r>
          </a:p>
        </p:txBody>
      </p:sp>
      <p:sp>
        <p:nvSpPr>
          <p:cNvPr id="5" name="body0">
            <a:extLst>
              <a:ext uri="{FF2B5EF4-FFF2-40B4-BE49-F238E27FC236}">
                <a16:creationId xmlns:a16="http://schemas.microsoft.com/office/drawing/2014/main" id="{C83D5B07-9B47-427E-B897-B55E9A941512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300037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早朝出発を緩め、</a:t>
            </a:r>
          </a:p>
          <a:p>
            <a:pPr algn="l"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滞在時間を長く。</a:t>
            </a:r>
          </a:p>
          <a:p>
            <a:pPr algn="l"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「詰め込みすぎ」を解消。</a:t>
            </a:r>
          </a:p>
        </p:txBody>
      </p:sp>
      <p:sp>
        <p:nvSpPr>
          <p:cNvPr id="6" name="card1">
            <a:extLst>
              <a:ext uri="{FF2B5EF4-FFF2-40B4-BE49-F238E27FC236}">
                <a16:creationId xmlns:a16="http://schemas.microsoft.com/office/drawing/2014/main" id="{2CE33616-B88E-4DA7-BA91-07F7091AA6E4}"/>
              </a:ext>
            </a:extLst>
          </p:cNvPr>
          <p:cNvSpPr>
            <a:spLocks noGrp="1"/>
          </p:cNvSpPr>
          <p:nvPr/>
        </p:nvSpPr>
        <p:spPr>
          <a:xfrm>
            <a:off x="4314825" y="1428750"/>
            <a:ext cx="3571875" cy="3476625"/>
          </a:xfrm>
          <a:prstGeom prst="roundRect">
            <a:avLst>
              <a:gd name="adj" fmla="val 3288"/>
            </a:avLst>
          </a:prstGeom>
          <a:solidFill>
            <a:srgbClr val="EAF5FB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num1">
            <a:extLst>
              <a:ext uri="{FF2B5EF4-FFF2-40B4-BE49-F238E27FC236}">
                <a16:creationId xmlns:a16="http://schemas.microsoft.com/office/drawing/2014/main" id="{F4C4B5CA-15D8-4A9E-961D-8756ACB37B2A}"/>
              </a:ext>
            </a:extLst>
          </p:cNvPr>
          <p:cNvSpPr>
            <a:spLocks noGrp="1"/>
          </p:cNvSpPr>
          <p:nvPr/>
        </p:nvSpPr>
        <p:spPr>
          <a:xfrm>
            <a:off x="4600575" y="17145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F80ED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F80ED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8" name="head1">
            <a:extLst>
              <a:ext uri="{FF2B5EF4-FFF2-40B4-BE49-F238E27FC236}">
                <a16:creationId xmlns:a16="http://schemas.microsoft.com/office/drawing/2014/main" id="{ADFD5230-2886-4E81-9FED-DDEEB6E289B9}"/>
              </a:ext>
            </a:extLst>
          </p:cNvPr>
          <p:cNvSpPr>
            <a:spLocks noGrp="1"/>
          </p:cNvSpPr>
          <p:nvPr/>
        </p:nvSpPr>
        <p:spPr>
          <a:xfrm>
            <a:off x="4600575" y="2333625"/>
            <a:ext cx="3000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グルメ多めに</a:t>
            </a:r>
          </a:p>
        </p:txBody>
      </p:sp>
      <p:sp>
        <p:nvSpPr>
          <p:cNvPr id="9" name="body1">
            <a:extLst>
              <a:ext uri="{FF2B5EF4-FFF2-40B4-BE49-F238E27FC236}">
                <a16:creationId xmlns:a16="http://schemas.microsoft.com/office/drawing/2014/main" id="{977E90A6-64A8-4EF0-A863-157532A1663C}"/>
              </a:ext>
            </a:extLst>
          </p:cNvPr>
          <p:cNvSpPr>
            <a:spLocks noGrp="1"/>
          </p:cNvSpPr>
          <p:nvPr/>
        </p:nvSpPr>
        <p:spPr>
          <a:xfrm>
            <a:off x="4600575" y="3143250"/>
            <a:ext cx="300037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おばんざい、京スイーツ、</a:t>
            </a:r>
          </a:p>
          <a:p>
            <a:pPr algn="l"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カフェ休憩を追加。</a:t>
            </a:r>
          </a:p>
          <a:p>
            <a:pPr algn="l"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旅の記憶に味を足す。</a:t>
            </a:r>
          </a:p>
        </p:txBody>
      </p:sp>
      <p:sp>
        <p:nvSpPr>
          <p:cNvPr id="10" name="card2">
            <a:extLst>
              <a:ext uri="{FF2B5EF4-FFF2-40B4-BE49-F238E27FC236}">
                <a16:creationId xmlns:a16="http://schemas.microsoft.com/office/drawing/2014/main" id="{A5E8E4F7-673D-4149-A14C-86E69989781F}"/>
              </a:ext>
            </a:extLst>
          </p:cNvPr>
          <p:cNvSpPr>
            <a:spLocks noGrp="1"/>
          </p:cNvSpPr>
          <p:nvPr/>
        </p:nvSpPr>
        <p:spPr>
          <a:xfrm>
            <a:off x="8239125" y="1428750"/>
            <a:ext cx="3571875" cy="3476625"/>
          </a:xfrm>
          <a:prstGeom prst="roundRect">
            <a:avLst>
              <a:gd name="adj" fmla="val 3288"/>
            </a:avLst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num2">
            <a:extLst>
              <a:ext uri="{FF2B5EF4-FFF2-40B4-BE49-F238E27FC236}">
                <a16:creationId xmlns:a16="http://schemas.microsoft.com/office/drawing/2014/main" id="{42FC03C9-5BBF-47EE-AA1F-A759A4B4C0AE}"/>
              </a:ext>
            </a:extLst>
          </p:cNvPr>
          <p:cNvSpPr>
            <a:spLocks noGrp="1"/>
          </p:cNvSpPr>
          <p:nvPr/>
        </p:nvSpPr>
        <p:spPr>
          <a:xfrm>
            <a:off x="8524875" y="171450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F80ED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F80ED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2" name="head2">
            <a:extLst>
              <a:ext uri="{FF2B5EF4-FFF2-40B4-BE49-F238E27FC236}">
                <a16:creationId xmlns:a16="http://schemas.microsoft.com/office/drawing/2014/main" id="{0183AADD-FEEE-4A02-AE06-CD328377AAD7}"/>
              </a:ext>
            </a:extLst>
          </p:cNvPr>
          <p:cNvSpPr>
            <a:spLocks noGrp="1"/>
          </p:cNvSpPr>
          <p:nvPr/>
        </p:nvSpPr>
        <p:spPr>
          <a:xfrm>
            <a:off x="8524875" y="2333625"/>
            <a:ext cx="3000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雨の日向けに</a:t>
            </a:r>
          </a:p>
        </p:txBody>
      </p:sp>
      <p:sp>
        <p:nvSpPr>
          <p:cNvPr id="13" name="body2">
            <a:extLst>
              <a:ext uri="{FF2B5EF4-FFF2-40B4-BE49-F238E27FC236}">
                <a16:creationId xmlns:a16="http://schemas.microsoft.com/office/drawing/2014/main" id="{651A57AC-E2AA-4D57-8F23-480CA33CA7B4}"/>
              </a:ext>
            </a:extLst>
          </p:cNvPr>
          <p:cNvSpPr>
            <a:spLocks noGrp="1"/>
          </p:cNvSpPr>
          <p:nvPr/>
        </p:nvSpPr>
        <p:spPr>
          <a:xfrm>
            <a:off x="8524875" y="3143250"/>
            <a:ext cx="300037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屋内で楽しめる文化施設と</a:t>
            </a:r>
          </a:p>
          <a:p>
            <a:pPr algn="l"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移動の少ないルートへ。</a:t>
            </a:r>
          </a:p>
          <a:p>
            <a:pPr algn="l">
              <a:def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天気で旅を諦めない。</a:t>
            </a:r>
          </a:p>
        </p:txBody>
      </p:sp>
      <p:sp>
        <p:nvSpPr>
          <p:cNvPr id="14" name="rule">
            <a:extLst>
              <a:ext uri="{FF2B5EF4-FFF2-40B4-BE49-F238E27FC236}">
                <a16:creationId xmlns:a16="http://schemas.microsoft.com/office/drawing/2014/main" id="{DC33D996-B07D-438A-B0D4-73EEAADED257}"/>
              </a:ext>
            </a:extLst>
          </p:cNvPr>
          <p:cNvSpPr>
            <a:spLocks noGrp="1"/>
          </p:cNvSpPr>
          <p:nvPr/>
        </p:nvSpPr>
        <p:spPr>
          <a:xfrm>
            <a:off x="400050" y="5334000"/>
            <a:ext cx="11391900" cy="19050"/>
          </a:xfrm>
          <a:prstGeom prst="rect">
            <a:avLst/>
          </a:prstGeom>
          <a:solidFill>
            <a:srgbClr val="101820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bottom">
            <a:extLst>
              <a:ext uri="{FF2B5EF4-FFF2-40B4-BE49-F238E27FC236}">
                <a16:creationId xmlns:a16="http://schemas.microsoft.com/office/drawing/2014/main" id="{47970A6E-B75E-428C-A48C-37C8AF9F25D9}"/>
              </a:ext>
            </a:extLst>
          </p:cNvPr>
          <p:cNvSpPr>
            <a:spLocks noGrp="1"/>
          </p:cNvSpPr>
          <p:nvPr/>
        </p:nvSpPr>
        <p:spPr>
          <a:xfrm>
            <a:off x="400050" y="57150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再生成ではなく、対話を続ける。</a:t>
            </a:r>
          </a:p>
        </p:txBody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4D667A5D-63C3-487D-8DA2-14A58B8C1774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7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6720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yebrow">
            <a:extLst>
              <a:ext uri="{FF2B5EF4-FFF2-40B4-BE49-F238E27FC236}">
                <a16:creationId xmlns:a16="http://schemas.microsoft.com/office/drawing/2014/main" id="{D87088BF-B4AF-4F18-8FFB-DED9879F956A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F80ED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F80ED"/>
                </a:solidFill>
                <a:latin typeface="Yu Gothic"/>
                <a:ea typeface="Yu Gothic"/>
                <a:cs typeface="Yu Gothic"/>
              </a:rPr>
              <a:t>TRAVEL AI AGENT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0A21-82F5-4011-BD6B-745DCCFD71BC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9525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6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46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旅の予定表ではなく、</a:t>
            </a:r>
          </a:p>
          <a:p>
            <a:pPr algn="l">
              <a:defRPr sz="4650" b="1">
                <a:solidFill>
                  <a:srgbClr val="101820"/>
                </a:solidFill>
                <a:latin typeface="Yu Gothic"/>
                <a:ea typeface="Yu Gothic"/>
                <a:cs typeface="Yu Gothic"/>
              </a:defRPr>
            </a:pPr>
            <a:r>
              <a:rPr sz="4650" b="1">
                <a:solidFill>
                  <a:srgbClr val="101820"/>
                </a:solidFill>
                <a:latin typeface="Yu Gothic"/>
                <a:ea typeface="Yu Gothic"/>
                <a:cs typeface="Yu Gothic"/>
              </a:rPr>
              <a:t>旅の始まりをつくる。</a:t>
            </a:r>
          </a:p>
        </p:txBody>
      </p:sp>
      <p:sp>
        <p:nvSpPr>
          <p:cNvPr id="3" name="close">
            <a:extLst>
              <a:ext uri="{FF2B5EF4-FFF2-40B4-BE49-F238E27FC236}">
                <a16:creationId xmlns:a16="http://schemas.microsoft.com/office/drawing/2014/main" id="{B396D1AD-03CB-4371-B8C6-D858B92509A0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6191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会話する。見える。直せる。</a:t>
            </a:r>
          </a:p>
          <a:p>
            <a:pPr algn="l">
              <a:defRPr sz="2025" b="0">
                <a:solidFill>
                  <a:srgbClr val="66717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66717D"/>
                </a:solidFill>
                <a:latin typeface="Yu Gothic"/>
                <a:ea typeface="Yu Gothic"/>
                <a:cs typeface="Yu Gothic"/>
              </a:rPr>
              <a:t>だから、計画の時間から旅行は楽しい。</a:t>
            </a:r>
          </a:p>
        </p:txBody>
      </p:sp>
      <p:sp>
        <p:nvSpPr>
          <p:cNvPr id="4" name="blue-block">
            <a:extLst>
              <a:ext uri="{FF2B5EF4-FFF2-40B4-BE49-F238E27FC236}">
                <a16:creationId xmlns:a16="http://schemas.microsoft.com/office/drawing/2014/main" id="{BCA4FE50-0ECE-42B7-BB3E-28DD72CD5039}"/>
              </a:ext>
            </a:extLst>
          </p:cNvPr>
          <p:cNvSpPr>
            <a:spLocks noGrp="1"/>
          </p:cNvSpPr>
          <p:nvPr/>
        </p:nvSpPr>
        <p:spPr>
          <a:xfrm>
            <a:off x="9334500" y="0"/>
            <a:ext cx="2857500" cy="6858000"/>
          </a:xfrm>
          <a:prstGeom prst="rect">
            <a:avLst/>
          </a:prstGeom>
          <a:solidFill>
            <a:srgbClr val="2F80ED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mark">
            <a:extLst>
              <a:ext uri="{FF2B5EF4-FFF2-40B4-BE49-F238E27FC236}">
                <a16:creationId xmlns:a16="http://schemas.microsoft.com/office/drawing/2014/main" id="{6AFAADC7-0A63-4019-BED7-6D7FDE49AE0A}"/>
              </a:ext>
            </a:extLst>
          </p:cNvPr>
          <p:cNvSpPr>
            <a:spLocks noGrp="1"/>
          </p:cNvSpPr>
          <p:nvPr/>
        </p:nvSpPr>
        <p:spPr>
          <a:xfrm>
            <a:off x="9906000" y="2095500"/>
            <a:ext cx="1619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7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7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✈</a:t>
            </a:r>
          </a:p>
        </p:txBody>
      </p:sp>
    </p:spTree>
    <p:extLst>
      <p:ext uri="{BB962C8B-B14F-4D97-AF65-F5344CB8AC3E}">
        <p14:creationId xmlns:p14="http://schemas.microsoft.com/office/powerpoint/2010/main" val="4612468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DocSecurity>0</DocSecurity>
  <PresentationFormat>ワイド画面</PresentationFormat>
  <Paragraphs>91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Yu Gothic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沙綺 篠原</cp:lastModifiedBy>
  <cp:revision>1</cp:revision>
  <dcterms:created xsi:type="dcterms:W3CDTF">2026-07-31T17:47:30Z</dcterms:created>
  <dcterms:modified xsi:type="dcterms:W3CDTF">2026-07-31T18:02:35Z</dcterms:modified>
</cp:coreProperties>
</file>