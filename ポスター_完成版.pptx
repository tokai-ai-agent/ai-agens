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44b106f46d4e09" /><Relationship Type="http://schemas.openxmlformats.org/officeDocument/2006/relationships/extended-properties" Target="/docProps/app.xml" Id="Raf96f614efc74e6e" /><Relationship Type="http://schemas.openxmlformats.org/officeDocument/2006/relationships/officeDocument" Target="/ppt/presentation.xml" Id="R5c08d1902c9f47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c277b58c8c42ad"/>
  </p:sldMasterIdLst>
  <p:notesMasterIdLst>
    <p:notesMasterId xmlns:r="http://schemas.openxmlformats.org/officeDocument/2006/relationships" r:id="R359674d5cacc40c4"/>
  </p:notesMasterIdLst>
  <p:sldIdLst>
    <p:sldId xmlns:r="http://schemas.openxmlformats.org/officeDocument/2006/relationships" id="256" r:id="R26791d6288d243ee"/>
  </p:sldIdLst>
  <p:sldSz cx="30275213" cy="42803763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288ec7f88d4e6f" /><Relationship Type="http://schemas.openxmlformats.org/officeDocument/2006/relationships/slideMaster" Target="/ppt/slideMasters/slideMaster1.xml" Id="Rf0c277b58c8c42ad" /><Relationship Type="http://schemas.openxmlformats.org/officeDocument/2006/relationships/notesMaster" Target="/ppt/notesMasters/notesMaster1.xml" Id="R359674d5cacc40c4" /><Relationship Type="http://schemas.openxmlformats.org/officeDocument/2006/relationships/presProps" Target="/ppt/presProps.xml" Id="Rcd6d32ce17254970" /><Relationship Type="http://schemas.openxmlformats.org/officeDocument/2006/relationships/viewProps" Target="/ppt/viewProps.xml" Id="R6752543fb77c4f70" /><Relationship Type="http://schemas.openxmlformats.org/officeDocument/2006/relationships/tableStyles" Target="/ppt/tableStyles.xml" Id="R8d9cf9ceccf64582" /><Relationship Type="http://schemas.openxmlformats.org/officeDocument/2006/relationships/slide" Target="/ppt/slides/slide1.xml" Id="R26791d6288d243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d1c74d792b4e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7ed8ce7e8a45ca" /><Relationship Type="http://schemas.openxmlformats.org/officeDocument/2006/relationships/notesMaster" Target="/ppt/notesMasters/notesMaster1.xml" Id="R79622961abf14e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implementation: src/mastra/agents/travel-agent.ts</a:t>
            </a:r>
          </a:p>
          <a:p xmlns:a="http://schemas.openxmlformats.org/drawingml/2006/main">
            <a:r>
              <a:t>- Local implementation: src/mastra/group-trips.ts</a:t>
            </a:r>
          </a:p>
          <a:p xmlns:a="http://schemas.openxmlformats.org/drawingml/2006/main">
            <a:r>
              <a:t>- Local implementation: src/mastra/tools/tavily-search.ts</a:t>
            </a:r>
          </a:p>
          <a:p xmlns:a="http://schemas.openxmlformats.org/drawingml/2006/main">
            <a:r>
              <a:t>- Local implementation: src/mastra/tools/hotpepper-search.ts</a:t>
            </a:r>
          </a:p>
          <a:p xmlns:a="http://schemas.openxmlformats.org/drawingml/2006/main">
            <a:r>
              <a:t>- User-provided local UI screenshots captured on 2026-07-30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e91310650f4e7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c46934d81b43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cf12876e904c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c856a60b6f4b6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6a9e0ffca2448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d2076c573a464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90e3fd86ea426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69ebe1dfa34d4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44c07665404a0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8fdc00ace04d9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5f926b281c4273" /></Relationships>
</file>

<file path=ppt/slideLayouts/slideLayout1.xml><?xml version="1.0" encoding="utf-8"?>
<p:sldLayout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E57DF3-A4D3-4417-8738-6A4660515A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270641" y="7005156"/>
            <a:ext cx="25733931" cy="14902051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19865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B08E627-DE1C-4049-83A9-81FCB06AA8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784402" y="22481887"/>
            <a:ext cx="22706410" cy="10334331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 xmlns:a="http://schemas.openxmlformats.org/drawingml/2006/main">
            <a:r>
              <a:t>マスター サブタイトルの書式設定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3713AEC-7A2A-4C52-8ED3-98CA096C55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0CAD79-B437-4F2C-91A0-812CFFB3E248}" type="datetimeFigureOut">
              <a:t>2026/7/30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58F3ED3-D1ED-48E4-9B5E-1E3A837ABC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E5929E9-8A09-44E3-A70D-FCBB755366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E690BA6-B0D4-461E-96D5-52CF8D70F913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AAB370-1748-45C5-BA51-DC783E41B2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2A0225-FC6A-4941-8942-45374A68812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67F45B-A50A-47EC-8902-BCEAD791A5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0CAD79-B437-4F2C-91A0-812CFFB3E248}" type="datetimeFigureOut">
              <a:t>2026/7/30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4289E5-0D0A-4060-89F5-1938B5DA7A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D403043-B04A-48AF-BB8B-525DEE4DDE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E690BA6-B0D4-461E-96D5-52CF8D70F913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4D05A3-4058-431B-ADBC-D1281E610E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65654" y="10671229"/>
            <a:ext cx="26112371" cy="17805173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9865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0D2889D-57ED-412F-8253-27A89F45A0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65654" y="28644846"/>
            <a:ext cx="26112371" cy="936332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8F694C0-36D3-4471-93FD-9A54ABF03D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0CAD79-B437-4F2C-91A0-812CFFB3E248}" type="datetimeFigureOut">
              <a:t>2026/7/30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D55CD08-33E6-432E-9EAB-F772CC0AFC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B7488F5-FCF3-41E2-B54F-37190EDB15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E690BA6-B0D4-461E-96D5-52CF8D70F913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B49A68-AB1F-4049-A87B-3413629B45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7D3052A-2007-41E7-AB81-9A3693AEC63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081421" y="11394520"/>
            <a:ext cx="12866966" cy="2715859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D89C4BB-70EB-4418-AA01-A7A7AAFE1C4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326826" y="11394520"/>
            <a:ext cx="12866966" cy="2715859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739F8FA-C777-4E90-9BC6-6C848C86CD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0CAD79-B437-4F2C-91A0-812CFFB3E248}" type="datetimeFigureOut">
              <a:t>2026/7/30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3CC9F75-D910-4207-BE94-DBC0784727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BAFC7FA-DA3D-4305-AE65-A2EB3C93F4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E690BA6-B0D4-461E-96D5-52CF8D70F913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678F5D-6241-4998-B4A3-F53918BC94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85364" y="2278913"/>
            <a:ext cx="26112371" cy="827341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95AA22C-5065-4B8B-BBEA-E6E77B3E31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85368" y="10492870"/>
            <a:ext cx="12807832" cy="5142393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FBD33F9-969A-4586-BD34-7E8103A0BE8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085368" y="15635264"/>
            <a:ext cx="12807832" cy="2299711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43B82CD-400C-4E6D-BCDF-5DBFDA5A8B3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5326828" y="10492870"/>
            <a:ext cx="12870909" cy="5142393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8042C30-4EAE-4765-BF55-A23FDFA4393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5326828" y="15635264"/>
            <a:ext cx="12870909" cy="2299711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6FB4393-18F4-45D1-B6AD-4867D87714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0CAD79-B437-4F2C-91A0-812CFFB3E248}" type="datetimeFigureOut">
              <a:t>2026/7/30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DDBAFCE-6AC1-4D23-8763-5B3E4D53A0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30D9845-D408-44C6-BFC2-401C6CED24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E690BA6-B0D4-461E-96D5-52CF8D70F913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D4DA39-8FA4-49AB-843D-5FEC17E75B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2D6ECA6-C13C-416F-889F-61D3209D6F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0CAD79-B437-4F2C-91A0-812CFFB3E248}" type="datetimeFigureOut">
              <a:t>2026/7/30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1A5AD45-38F3-458A-8E7C-71FE19CE8F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65544AE-D5A8-4880-8778-8D60303BB5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E690BA6-B0D4-461E-96D5-52CF8D70F913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581875D-DE63-4205-A485-CDBDBDBBA1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0CAD79-B437-4F2C-91A0-812CFFB3E248}" type="datetimeFigureOut">
              <a:t>2026/7/30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493D886-CD2A-4D28-B745-D808575F5E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1620BAA-6335-4C9F-B095-BA337429C7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E690BA6-B0D4-461E-96D5-52CF8D70F913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5CBBE7-0500-4099-B008-609021A45E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85364" y="2853584"/>
            <a:ext cx="9764544" cy="9987545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0595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B3A15DB-7201-441A-A235-958B1C0061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0909" y="6162959"/>
            <a:ext cx="15326827" cy="3041841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595"/>
            </a:lvl1pPr>
            <a:lvl2pPr>
              <a:buNone/>
              <a:defRPr sz="9271"/>
            </a:lvl2pPr>
            <a:lvl3pPr>
              <a:buNone/>
              <a:defRPr sz="7946"/>
            </a:lvl3pPr>
            <a:lvl4pPr>
              <a:buNone/>
              <a:defRPr sz="6622"/>
            </a:lvl4pPr>
            <a:lvl5pPr>
              <a:buNone/>
              <a:defRPr sz="6622"/>
            </a:lvl5pPr>
            <a:lvl6pPr>
              <a:buNone/>
              <a:defRPr sz="6622"/>
            </a:lvl6pPr>
            <a:lvl7pPr>
              <a:buNone/>
              <a:defRPr sz="6622"/>
            </a:lvl7pPr>
            <a:lvl8pPr>
              <a:buNone/>
              <a:defRPr sz="6622"/>
            </a:lvl8pPr>
            <a:lvl9pPr>
              <a:buNone/>
              <a:defRPr sz="6622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865EEAA-D4C0-497D-9716-D2C65EC631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085364" y="12841129"/>
            <a:ext cx="9764544" cy="2378978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3308CC9-0368-4F49-9DCC-83862E1CFC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0CAD79-B437-4F2C-91A0-812CFFB3E248}" type="datetimeFigureOut">
              <a:t>2026/7/30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A10C42F-46B2-4056-BA1B-80F9F5BAFD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E78F4E9-9BF2-46E0-BFEB-6047B4AB51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E690BA6-B0D4-461E-96D5-52CF8D70F913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28E755-BC77-42F9-8B3F-FA9709849E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85364" y="2853584"/>
            <a:ext cx="9764544" cy="9987545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0595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209FC13-974A-4E25-BAEC-FD392D91A09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2870909" y="6162959"/>
            <a:ext cx="15326827" cy="3041841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 xmlns:a="http://schemas.openxmlformats.org/drawingml/2006/main">
            <a:r>
              <a:t>アイコンをクリックして図を追加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0E5E116-222C-45F8-9CA3-5529D700B2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085364" y="12841129"/>
            <a:ext cx="9764544" cy="2378978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215E06C-5960-4C08-AD74-91C7573F54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0CAD79-B437-4F2C-91A0-812CFFB3E248}" type="datetimeFigureOut">
              <a:t>2026/7/30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E4CD8BF-BBEC-46BF-8506-C62F513C27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F59802E-C8E6-4C7A-BD31-0B8F159076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E690BA6-B0D4-461E-96D5-52CF8D70F913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29E47D-AA10-41E2-B049-395C01BF1D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17EE0D1-AE3E-4E6D-BE86-23666E6394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F55CE7C-D485-4423-892F-445550894C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0CAD79-B437-4F2C-91A0-812CFFB3E248}" type="datetimeFigureOut">
              <a:t>2026/7/30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95C52DB-CCE8-45BB-B235-CA7276DF3E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100FA45-CE91-4940-9191-0460842305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E690BA6-B0D4-461E-96D5-52CF8D70F913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E464151-E00B-4F88-AA39-8C0748E788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65701" y="2278904"/>
            <a:ext cx="6528093" cy="36274211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85C7A2-FD03-4F46-9698-7116F1BF15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81423" y="2278904"/>
            <a:ext cx="19205838" cy="36274211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10C4C3-BD1A-472F-A7BA-94A0D6E1EB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0CAD79-B437-4F2C-91A0-812CFFB3E248}" type="datetimeFigureOut">
              <a:t>2026/7/30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C9825E9-19C4-479F-89ED-FBDE683752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F1F801-F355-47A0-8643-B1AE4568F7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E690BA6-B0D4-461E-96D5-52CF8D70F913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12c9d31f4f4b30" /><Relationship Type="http://schemas.openxmlformats.org/officeDocument/2006/relationships/slideLayout" Target="/ppt/slideLayouts/slideLayout1.xml" Id="Rfc23c0d0ce0a4905" /><Relationship Type="http://schemas.openxmlformats.org/officeDocument/2006/relationships/slideLayout" Target="/ppt/slideLayouts/slideLayout2.xml" Id="Re07d9a4ab0204af9" /><Relationship Type="http://schemas.openxmlformats.org/officeDocument/2006/relationships/slideLayout" Target="/ppt/slideLayouts/slideLayout3.xml" Id="Rf8c21a36e036447a" /><Relationship Type="http://schemas.openxmlformats.org/officeDocument/2006/relationships/slideLayout" Target="/ppt/slideLayouts/slideLayout4.xml" Id="R7c2be30073e6452c" /><Relationship Type="http://schemas.openxmlformats.org/officeDocument/2006/relationships/slideLayout" Target="/ppt/slideLayouts/slideLayout5.xml" Id="R06a24473660c4d60" /><Relationship Type="http://schemas.openxmlformats.org/officeDocument/2006/relationships/slideLayout" Target="/ppt/slideLayouts/slideLayout6.xml" Id="R67c72beed4c544a3" /><Relationship Type="http://schemas.openxmlformats.org/officeDocument/2006/relationships/slideLayout" Target="/ppt/slideLayouts/slideLayout7.xml" Id="R4b2c0428928c4407" /><Relationship Type="http://schemas.openxmlformats.org/officeDocument/2006/relationships/slideLayout" Target="/ppt/slideLayouts/slideLayout8.xml" Id="Rfa729ec3b97747b3" /><Relationship Type="http://schemas.openxmlformats.org/officeDocument/2006/relationships/slideLayout" Target="/ppt/slideLayouts/slideLayout9.xml" Id="R5686054e71bb4c25" /><Relationship Type="http://schemas.openxmlformats.org/officeDocument/2006/relationships/slideLayout" Target="/ppt/slideLayouts/slideLayout10.xml" Id="Re1e68ebd9338486c" /><Relationship Type="http://schemas.openxmlformats.org/officeDocument/2006/relationships/slideLayout" Target="/ppt/slideLayouts/slideLayout11.xml" Id="R6037970413794b6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C714ADF-15AB-47BB-B51A-12E20CFAA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81421" y="2278913"/>
            <a:ext cx="26112371" cy="82734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756CAF8-2182-4119-B7D6-B26A917CC9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81421" y="11394520"/>
            <a:ext cx="26112371" cy="271585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4A2D16E-82A5-439A-A931-4035D438B6E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2081421" y="39672756"/>
            <a:ext cx="6811923" cy="22789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360CAD79-B437-4F2C-91A0-812CFFB3E248}" type="datetimeFigureOut">
              <a:t>2026/7/30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5371640-8347-4241-B316-F6BF3713E7A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0028665" y="39672756"/>
            <a:ext cx="10217884" cy="22789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B274D6F-5B22-4B8C-99E5-7190DBAA001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21381869" y="39672756"/>
            <a:ext cx="6811923" cy="22789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4E690BA6-B0D4-461E-96D5-52CF8D70F913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23c0d0ce0a4905"/>
    <p:sldLayoutId xmlns:r="http://schemas.openxmlformats.org/officeDocument/2006/relationships" id="2147483650" r:id="Re07d9a4ab0204af9"/>
    <p:sldLayoutId xmlns:r="http://schemas.openxmlformats.org/officeDocument/2006/relationships" id="2147483651" r:id="Rf8c21a36e036447a"/>
    <p:sldLayoutId xmlns:r="http://schemas.openxmlformats.org/officeDocument/2006/relationships" id="2147483652" r:id="R7c2be30073e6452c"/>
    <p:sldLayoutId xmlns:r="http://schemas.openxmlformats.org/officeDocument/2006/relationships" id="2147483653" r:id="R06a24473660c4d60"/>
    <p:sldLayoutId xmlns:r="http://schemas.openxmlformats.org/officeDocument/2006/relationships" id="2147483654" r:id="R67c72beed4c544a3"/>
    <p:sldLayoutId xmlns:r="http://schemas.openxmlformats.org/officeDocument/2006/relationships" id="2147483655" r:id="R4b2c0428928c4407"/>
    <p:sldLayoutId xmlns:r="http://schemas.openxmlformats.org/officeDocument/2006/relationships" id="2147483656" r:id="Rfa729ec3b97747b3"/>
    <p:sldLayoutId xmlns:r="http://schemas.openxmlformats.org/officeDocument/2006/relationships" id="2147483657" r:id="R5686054e71bb4c25"/>
    <p:sldLayoutId xmlns:r="http://schemas.openxmlformats.org/officeDocument/2006/relationships" id="2147483658" r:id="Re1e68ebd9338486c"/>
    <p:sldLayoutId xmlns:r="http://schemas.openxmlformats.org/officeDocument/2006/relationships" id="2147483659" r:id="R6037970413794b68"/>
  </p:sldLayoutIdLst>
  <p:txStyles>
    <p:titleStyle>
      <a:lvl1pPr xmlns:a="http://schemas.openxmlformats.org/drawingml/2006/main" algn="l" defTabSz="3027487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756872" indent="-756872" algn="l" defTabSz="3027487">
        <a:lnSpc>
          <a:spcPct val="90000"/>
        </a:lnSpc>
        <a:spcBef>
          <a:spcPts val="3311"/>
        </a:spcBef>
        <a:buFont typeface="Arial"/>
        <a:buChar char="•"/>
        <a:defRPr sz="927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270615" indent="-756872" algn="l" defTabSz="3027487">
        <a:lnSpc>
          <a:spcPct val="90000"/>
        </a:lnSpc>
        <a:spcBef>
          <a:spcPts val="1655"/>
        </a:spcBef>
        <a:buFont typeface="Arial"/>
        <a:buChar char="•"/>
        <a:defRPr sz="7946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3784359" indent="-756872" algn="l" defTabSz="3027487">
        <a:lnSpc>
          <a:spcPct val="90000"/>
        </a:lnSpc>
        <a:spcBef>
          <a:spcPts val="1655"/>
        </a:spcBef>
        <a:buFont typeface="Arial"/>
        <a:buChar char="•"/>
        <a:defRPr sz="6622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5298102" indent="-756872" algn="l" defTabSz="3027487">
        <a:lnSpc>
          <a:spcPct val="90000"/>
        </a:lnSpc>
        <a:spcBef>
          <a:spcPts val="1655"/>
        </a:spcBef>
        <a:buFont typeface="Arial"/>
        <a:buChar char="•"/>
        <a:defRPr sz="59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6811846" indent="-756872" algn="l" defTabSz="3027487">
        <a:lnSpc>
          <a:spcPct val="90000"/>
        </a:lnSpc>
        <a:spcBef>
          <a:spcPts val="1655"/>
        </a:spcBef>
        <a:buFont typeface="Arial"/>
        <a:buChar char="•"/>
        <a:defRPr sz="59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8325589" indent="-756872" algn="l" defTabSz="3027487">
        <a:lnSpc>
          <a:spcPct val="90000"/>
        </a:lnSpc>
        <a:spcBef>
          <a:spcPts val="1655"/>
        </a:spcBef>
        <a:buFont typeface="Arial"/>
        <a:buChar char="•"/>
        <a:defRPr sz="59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9839333" indent="-756872" algn="l" defTabSz="3027487">
        <a:lnSpc>
          <a:spcPct val="90000"/>
        </a:lnSpc>
        <a:spcBef>
          <a:spcPts val="1655"/>
        </a:spcBef>
        <a:buFont typeface="Arial"/>
        <a:buChar char="•"/>
        <a:defRPr sz="59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353076" indent="-756872" algn="l" defTabSz="3027487">
        <a:lnSpc>
          <a:spcPct val="90000"/>
        </a:lnSpc>
        <a:spcBef>
          <a:spcPts val="1655"/>
        </a:spcBef>
        <a:buFont typeface="Arial"/>
        <a:buChar char="•"/>
        <a:defRPr sz="59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2866820" indent="-756872" algn="l" defTabSz="3027487">
        <a:lnSpc>
          <a:spcPct val="90000"/>
        </a:lnSpc>
        <a:spcBef>
          <a:spcPts val="1655"/>
        </a:spcBef>
        <a:buFont typeface="Arial"/>
        <a:buChar char="•"/>
        <a:defRPr sz="596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3027487">
        <a:buNone/>
        <a:defRPr sz="596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513743" algn="l" defTabSz="3027487">
        <a:buNone/>
        <a:defRPr sz="596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3027487" algn="l" defTabSz="3027487">
        <a:buNone/>
        <a:defRPr sz="596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4541230" algn="l" defTabSz="3027487">
        <a:buNone/>
        <a:defRPr sz="596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6054974" algn="l" defTabSz="3027487">
        <a:buNone/>
        <a:defRPr sz="596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7568717" algn="l" defTabSz="3027487">
        <a:buNone/>
        <a:defRPr sz="596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9082461" algn="l" defTabSz="3027487">
        <a:buNone/>
        <a:defRPr sz="596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0596204" algn="l" defTabSz="3027487">
        <a:buNone/>
        <a:defRPr sz="596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2109948" algn="l" defTabSz="3027487">
        <a:buNone/>
        <a:defRPr sz="596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678ecd8b84b21" /><Relationship Type="http://schemas.openxmlformats.org/officeDocument/2006/relationships/image" Target="/ppt/media/image.png" Id="Rc15d623c34b945c6" /><Relationship Type="http://schemas.openxmlformats.org/officeDocument/2006/relationships/image" Target="/ppt/media/image2.png" Id="Rde4a55fddb0040ad" /><Relationship Type="http://schemas.openxmlformats.org/officeDocument/2006/relationships/image" Target="/ppt/media/image3.png" Id="R2fe7752a54fa4ddd" /><Relationship Type="http://schemas.openxmlformats.org/officeDocument/2006/relationships/image" Target="/ppt/media/image4.png" Id="R5f0f08cc593f4d77" /><Relationship Type="http://schemas.openxmlformats.org/officeDocument/2006/relationships/notesSlide" Target="/ppt/notesSlides/notesSlide1.xml" Id="R3d61f264eb3849b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46154715-4961-74F4-9B1B-2269863364F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73640" y="742189"/>
            <a:ext cx="28666560" cy="271099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75000"/>
            </a:schemeClr>
          </a:solidFill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8800" b="1">
                <a:latin typeface="ＭＳ ゴシック"/>
                <a:ea typeface="ＭＳ ゴシック"/>
                <a:cs typeface="ＭＳ ゴシック"/>
              </a:rPr>
              <a:t>AIエージェントを用いた旅行プラン生成</a:t>
            </a:r>
          </a:p>
        </p:txBody>
      </p:sp>
      <p:sp>
        <p:nvSpPr>
          <p:cNvPr id="4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B2A36960-B7ED-EDC5-EEE4-04915CC8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26" y="3645392"/>
            <a:ext cx="28666560" cy="9688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 vert="horz" lIns="91440" tIns="45720" rIns="91440" bIns="45720" anchor="b">
            <a:normAutofit fontScale="100000"/>
          </a:bodyPr>
          <a:lstStyle xmlns:a="http://schemas.openxmlformats.org/drawingml/2006/main">
            <a:lvl1pPr algn="ctr" defTabSz="3027487">
              <a:lnSpc>
                <a:spcPct val="90000"/>
              </a:lnSpc>
              <a:spcBef>
                <a:spcPct val="0"/>
              </a:spcBef>
              <a:buNone/>
              <a:defRPr sz="19865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6000">
                <a:solidFill>
                  <a:srgbClr val="0070C0"/>
                </a:solidFill>
                <a:latin typeface="ＭＳ ゴシック"/>
                <a:ea typeface="ＭＳ ゴシック"/>
                <a:cs typeface="ＭＳ ゴシック"/>
              </a:rPr>
              <a:t>卒業研究｜旅行プラン提案システム</a:t>
            </a:r>
          </a:p>
        </p:txBody>
      </p:sp>
      <p:sp>
        <p:nvSpPr>
          <p:cNvPr id="5" name="四角形: 角を丸くする 4">
            <a:extLst xmlns:a="http://schemas.openxmlformats.org/drawingml/2006/main">
              <a:ext uri="{FF2B5EF4-FFF2-40B4-BE49-F238E27FC236}">
                <a16:creationId xmlns:a16="http://schemas.microsoft.com/office/drawing/2014/main" id="{5A4311FB-D261-E530-F718-4E792729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663" y="5014059"/>
            <a:ext cx="28666560" cy="11791869"/>
          </a:xfrm>
          <a:prstGeom xmlns:a="http://schemas.openxmlformats.org/drawingml/2006/main" prst="roundRect">
            <a:avLst>
              <a:gd name="adj" fmla="val 5366"/>
            </a:avLst>
          </a:prstGeom>
          <a:noFill xmlns:a="http://schemas.openxmlformats.org/drawingml/2006/main"/>
          <a:ln xmlns:a="http://schemas.openxmlformats.org/drawingml/2006/main" w="381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四角形: 角を丸くする 5">
            <a:extLst xmlns:a="http://schemas.openxmlformats.org/drawingml/2006/main">
              <a:ext uri="{FF2B5EF4-FFF2-40B4-BE49-F238E27FC236}">
                <a16:creationId xmlns:a16="http://schemas.microsoft.com/office/drawing/2014/main" id="{85B3F9F8-8873-7EA3-D5A9-A6017EE7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40" y="17307196"/>
            <a:ext cx="28666560" cy="17520318"/>
          </a:xfrm>
          <a:prstGeom xmlns:a="http://schemas.openxmlformats.org/drawingml/2006/main" prst="roundRect">
            <a:avLst>
              <a:gd name="adj" fmla="val 2354"/>
            </a:avLst>
          </a:prstGeom>
          <a:solidFill xmlns:a="http://schemas.openxmlformats.org/drawingml/2006/main">
            <a:schemeClr val="tx2">
              <a:lumMod val="10000"/>
              <a:lumOff val="90000"/>
            </a:schemeClr>
          </a:solidFill>
          <a:ln xmlns:a="http://schemas.openxmlformats.org/drawingml/2006/main" w="381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四角形: 角を丸くする 6">
            <a:extLst xmlns:a="http://schemas.openxmlformats.org/drawingml/2006/main">
              <a:ext uri="{FF2B5EF4-FFF2-40B4-BE49-F238E27FC236}">
                <a16:creationId xmlns:a16="http://schemas.microsoft.com/office/drawing/2014/main" id="{3538D5CA-88D1-FC76-9C91-B892F039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26" y="35144585"/>
            <a:ext cx="28666560" cy="5738274"/>
          </a:xfrm>
          <a:prstGeom xmlns:a="http://schemas.openxmlformats.org/drawingml/2006/main" prst="roundRect">
            <a:avLst>
              <a:gd name="adj" fmla="val 5366"/>
            </a:avLst>
          </a:prstGeom>
          <a:noFill xmlns:a="http://schemas.openxmlformats.org/drawingml/2006/main"/>
          <a:ln xmlns:a="http://schemas.openxmlformats.org/drawingml/2006/main" w="381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テキスト ボックス 8">
            <a:extLst xmlns:a="http://schemas.openxmlformats.org/drawingml/2006/main">
              <a:ext uri="{FF2B5EF4-FFF2-40B4-BE49-F238E27FC236}">
                <a16:creationId xmlns:a16="http://schemas.microsoft.com/office/drawing/2014/main" id="{4295A699-B733-FB2A-ECE4-A440B8AC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095" y="5604838"/>
            <a:ext cx="12217940" cy="11079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75000"/>
            </a:schemeClr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6600" b="1"/>
              <a:t>1.</a:t>
            </a:r>
            <a:r>
              <a:rPr sz="6600" b="1"/>
              <a:t>はじめに</a:t>
            </a:r>
          </a:p>
        </p:txBody>
      </p:sp>
      <p:sp>
        <p:nvSpPr>
          <p:cNvPr id="10" name="テキスト ボックス 9">
            <a:extLst xmlns:a="http://schemas.openxmlformats.org/drawingml/2006/main">
              <a:ext uri="{FF2B5EF4-FFF2-40B4-BE49-F238E27FC236}">
                <a16:creationId xmlns:a16="http://schemas.microsoft.com/office/drawing/2014/main" id="{DFB116C5-E4B7-5CA9-A2F5-A6B22BC9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7606" y="5604838"/>
            <a:ext cx="12217940" cy="11079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75000"/>
            </a:schemeClr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6600" b="1"/>
              <a:t>2.</a:t>
            </a:r>
            <a:r>
              <a:rPr sz="6600" b="1"/>
              <a:t>提案</a:t>
            </a:r>
          </a:p>
        </p:txBody>
      </p:sp>
      <p:sp>
        <p:nvSpPr>
          <p:cNvPr id="3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F7383DF1-2911-DA76-A583-5A7A30D3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061" y="17842914"/>
            <a:ext cx="14394622" cy="1123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75000"/>
            </a:schemeClr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6600" b="1"/>
              <a:t>3.</a:t>
            </a:r>
            <a:r>
              <a:rPr sz="6600" b="1"/>
              <a:t>体験画面</a:t>
            </a:r>
          </a:p>
        </p:txBody>
      </p:sp>
      <p:sp>
        <p:nvSpPr>
          <p:cNvPr id="8" name="テキスト ボックス 7">
            <a:extLst xmlns:a="http://schemas.openxmlformats.org/drawingml/2006/main">
              <a:ext uri="{FF2B5EF4-FFF2-40B4-BE49-F238E27FC236}">
                <a16:creationId xmlns:a16="http://schemas.microsoft.com/office/drawing/2014/main" id="{427FB0C7-D830-83CD-BD27-C406FAD3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060" y="35458585"/>
            <a:ext cx="12217940" cy="11079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75000"/>
            </a:schemeClr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6600" b="1"/>
              <a:t>4.</a:t>
            </a:r>
            <a:r>
              <a:rPr sz="6600" b="1"/>
              <a:t>まとめ</a:t>
            </a:r>
          </a:p>
        </p:txBody>
      </p:sp>
      <p:sp>
        <p:nvSpPr>
          <p:cNvPr id="37" name="テキスト ボックス 36">
            <a:extLst xmlns:a="http://schemas.openxmlformats.org/drawingml/2006/main">
              <a:ext uri="{FF2B5EF4-FFF2-40B4-BE49-F238E27FC236}">
                <a16:creationId xmlns:a16="http://schemas.microsoft.com/office/drawing/2014/main" id="{21C7A585-8838-CC03-259B-FC2B0B01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232" y="10502413"/>
            <a:ext cx="1210588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000" b="1"/>
              <a:t>課題</a:t>
            </a:r>
          </a:p>
        </p:txBody>
      </p:sp>
      <p:sp>
        <p:nvSpPr>
          <p:cNvPr id="39" name="テキスト ボックス 38">
            <a:extLst xmlns:a="http://schemas.openxmlformats.org/drawingml/2006/main">
              <a:ext uri="{FF2B5EF4-FFF2-40B4-BE49-F238E27FC236}">
                <a16:creationId xmlns:a16="http://schemas.microsoft.com/office/drawing/2014/main" id="{BDD54E24-F82B-CE20-89CB-2105D23C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232" y="14108947"/>
            <a:ext cx="3262432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000" b="1"/>
              <a:t>解決策・目的</a:t>
            </a:r>
          </a:p>
        </p:txBody>
      </p:sp>
      <p:sp>
        <p:nvSpPr>
          <p:cNvPr id="41" name="テキスト ボックス 40">
            <a:extLst xmlns:a="http://schemas.openxmlformats.org/drawingml/2006/main">
              <a:ext uri="{FF2B5EF4-FFF2-40B4-BE49-F238E27FC236}">
                <a16:creationId xmlns:a16="http://schemas.microsoft.com/office/drawing/2014/main" id="{398852B8-3B96-A5E0-DAF5-3A43E51F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8721" y="13840347"/>
            <a:ext cx="1210588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000" b="1"/>
              <a:t>特徴</a:t>
            </a:r>
          </a:p>
        </p:txBody>
      </p:sp>
      <p:sp>
        <p:nvSpPr>
          <p:cNvPr id="46" name="テキスト ボックス 45">
            <a:extLst xmlns:a="http://schemas.openxmlformats.org/drawingml/2006/main">
              <a:ext uri="{FF2B5EF4-FFF2-40B4-BE49-F238E27FC236}">
                <a16:creationId xmlns:a16="http://schemas.microsoft.com/office/drawing/2014/main" id="{004C0F69-7076-355C-501B-4A991FCD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060" y="19392575"/>
            <a:ext cx="2749471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000"/>
              <a:t>使用技術：</a:t>
            </a:r>
          </a:p>
        </p:txBody>
      </p:sp>
      <p:sp>
        <p:nvSpPr>
          <p:cNvPr id="27" name="テキスト ボックス 26">
            <a:extLst xmlns:a="http://schemas.openxmlformats.org/drawingml/2006/main">
              <a:ext uri="{FF2B5EF4-FFF2-40B4-BE49-F238E27FC236}">
                <a16:creationId xmlns:a16="http://schemas.microsoft.com/office/drawing/2014/main" id="{A7A0462E-5FBA-48B1-11D3-5D0D541B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7606" y="35474169"/>
            <a:ext cx="12217940" cy="11079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75000"/>
            </a:schemeClr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6600" b="1"/>
              <a:t>5.</a:t>
            </a:r>
            <a:r>
              <a:rPr sz="6600" b="1"/>
              <a:t>今後の課題</a:t>
            </a:r>
          </a:p>
        </p:txBody>
      </p:sp>
      <p:sp>
        <p:nvSpPr>
          <p:cNvPr id="11" name="テキスト ボックス 10">
            <a:extLst xmlns:a="http://schemas.openxmlformats.org/drawingml/2006/main">
              <a:ext uri="{FF2B5EF4-FFF2-40B4-BE49-F238E27FC236}">
                <a16:creationId xmlns:a16="http://schemas.microsoft.com/office/drawing/2014/main" id="{3B0D9900-9596-012C-52CE-35B640CE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00" y="7158925"/>
            <a:ext cx="1210588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000" b="1"/>
              <a:t>背景</a:t>
            </a:r>
          </a:p>
        </p:txBody>
      </p:sp>
      <p:sp>
        <p:nvSpPr>
          <p:cNvPr id="43" name="正方形/長方形 42">
            <a:extLst xmlns:a="http://schemas.openxmlformats.org/drawingml/2006/main">
              <a:ext uri="{FF2B5EF4-FFF2-40B4-BE49-F238E27FC236}">
                <a16:creationId xmlns:a16="http://schemas.microsoft.com/office/drawing/2014/main" id="{3141B2E6-7940-ABBA-23EE-9B97128E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7606" y="7376999"/>
            <a:ext cx="14051336" cy="6185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0C0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テキスト ボックス 17">
            <a:extLst xmlns:a="http://schemas.openxmlformats.org/drawingml/2006/main">
              <a:ext uri="{FF2B5EF4-FFF2-40B4-BE49-F238E27FC236}">
                <a16:creationId xmlns:a16="http://schemas.microsoft.com/office/drawing/2014/main" id="{E0F993D8-AA88-2C56-E65F-31B2AB73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2106" y="36912541"/>
            <a:ext cx="14638780" cy="39703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・文字コードを統一し、表示崩れを解消する</a:t>
            </a:r>
          </a:p>
          <a:p xmlns:a="http://schemas.openxmlformats.org/drawingml/2006/main">
            <a:pPr algn="l"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・ルーム情報を永続ストレージへ移行する</a:t>
            </a:r>
          </a:p>
          <a:p xmlns:a="http://schemas.openxmlformats.org/drawingml/2006/main">
            <a:pPr algn="l"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・宿泊施設の検索・提案・予約連携を追加する</a:t>
            </a:r>
          </a:p>
          <a:p xmlns:a="http://schemas.openxmlformats.org/drawingml/2006/main">
            <a:pPr algn="l">
              <a:defRPr sz="2025">
                <a:solidFill>
                  <a:srgbClr val="1F2937"/>
                </a:solidFill>
              </a:defRPr>
            </a:pPr>
            <a:r>
              <a:rPr sz="2025">
                <a:solidFill>
                  <a:srgbClr val="1F2937"/>
                </a:solidFill>
              </a:rPr>
              <a:t>・役割分担型のマルチエージェントへ拡張する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CEED5A8-66DE-4A69-9730-396EC01B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810500"/>
            <a:ext cx="11715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F2937"/>
                </a:solidFill>
              </a:defRPr>
            </a:pPr>
            <a:r>
              <a:rPr sz="2250" b="0">
                <a:solidFill>
                  <a:srgbClr val="1F2937"/>
                </a:solidFill>
              </a:rPr>
              <a:t>旅行計画では、観光地・飲食店・交通・イベントなど複数の情報を調べ、時間や距離を考慮して行程へまとめる必要がある。さらにグループ旅行では、参加者ごとの予算・ペース・希望の違いを調整する負担が大きい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CB535D-19D1-4545-B2F2-CBEF1A1C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1191875"/>
            <a:ext cx="1171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F2937"/>
                </a:solidFill>
              </a:defRPr>
            </a:pPr>
            <a:r>
              <a:rPr sz="2250" b="0">
                <a:solidFill>
                  <a:srgbClr val="1F2937"/>
                </a:solidFill>
              </a:rPr>
              <a:t>Web検索結果を読むだけでは、情報が断片的で、移動を含む実行可能なプランに変換しにくい。</a:t>
            </a:r>
          </a:p>
          <a:p xmlns:a="http://schemas.openxmlformats.org/drawingml/2006/main">
            <a:pPr algn="l">
              <a:defRPr sz="2250" b="0">
                <a:solidFill>
                  <a:srgbClr val="1F2937"/>
                </a:solidFill>
              </a:defRPr>
            </a:pPr>
            <a:r>
              <a:rPr sz="2250" b="0">
                <a:solidFill>
                  <a:srgbClr val="1F2937"/>
                </a:solidFill>
              </a:rPr>
              <a:t>また、候補を比較して合意を取る作業は人手に依存している。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68D665-6BAA-446A-8CA7-B3DFEFDB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4763750"/>
            <a:ext cx="11715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65D"/>
                </a:solidFill>
              </a:defRPr>
            </a:pPr>
            <a:r>
              <a:rPr sz="2250" b="1">
                <a:solidFill>
                  <a:srgbClr val="17365D"/>
                </a:solidFill>
              </a:rPr>
              <a:t>生成AIが最新情報を検索し、条件に合う1日単位の旅行プランを自動生成する。個人向け提案に加え、2〜5人の希望を統合して3案を生成し、投票で最終案を決定できる仕組みを実装した。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D943C7-3E4C-411D-8D51-24CB6EA4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7620000"/>
            <a:ext cx="2857500" cy="2428875"/>
          </a:xfrm>
          <a:prstGeom xmlns:a="http://schemas.openxmlformats.org/drawingml/2006/main" prst="roundRect">
            <a:avLst>
              <a:gd name="adj" fmla="val 862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19050">
            <a:solidFill>
              <a:srgbClr val="0070C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6E7FB9C-3C9F-43F2-9AE8-E27E1A4B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325" y="7858125"/>
            <a:ext cx="251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① 条件入力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621EC7A-834A-48F6-8B1B-CF2CA9AE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2425" y="8572500"/>
            <a:ext cx="2438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36273"/>
                </a:solidFill>
              </a:defRPr>
            </a:pPr>
            <a:r>
              <a:rPr sz="1725" b="0">
                <a:solidFill>
                  <a:srgbClr val="536273"/>
                </a:solidFill>
              </a:rPr>
              <a:t>出発地・目的地</a:t>
            </a:r>
          </a:p>
          <a:p xmlns:a="http://schemas.openxmlformats.org/drawingml/2006/main">
            <a:pPr algn="ctr">
              <a:defRPr sz="1725" b="0">
                <a:solidFill>
                  <a:srgbClr val="536273"/>
                </a:solidFill>
              </a:defRPr>
            </a:pPr>
            <a:r>
              <a:rPr sz="1725" b="0">
                <a:solidFill>
                  <a:srgbClr val="536273"/>
                </a:solidFill>
              </a:rPr>
              <a:t>日程・テーマ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274ACC7-E6F2-4AAA-9326-28D6A324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0" y="7620000"/>
            <a:ext cx="2857500" cy="2428875"/>
          </a:xfrm>
          <a:prstGeom xmlns:a="http://schemas.openxmlformats.org/drawingml/2006/main" prst="roundRect">
            <a:avLst>
              <a:gd name="adj" fmla="val 862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19050">
            <a:solidFill>
              <a:srgbClr val="0070C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73E5CE4-C405-4074-B10B-2C5DEA5F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0450" y="7858125"/>
            <a:ext cx="251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② 情報検索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B5CA417-7058-4AA4-8A84-4ADC42BD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8550" y="8572500"/>
            <a:ext cx="2438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36273"/>
                </a:solidFill>
              </a:defRPr>
            </a:pPr>
            <a:r>
              <a:rPr sz="1725" b="0">
                <a:solidFill>
                  <a:srgbClr val="536273"/>
                </a:solidFill>
              </a:rPr>
              <a:t>Tavily / HotPepper</a:t>
            </a:r>
          </a:p>
          <a:p xmlns:a="http://schemas.openxmlformats.org/drawingml/2006/main">
            <a:pPr algn="ctr">
              <a:defRPr sz="1725" b="0">
                <a:solidFill>
                  <a:srgbClr val="536273"/>
                </a:solidFill>
              </a:defRPr>
            </a:pPr>
            <a:r>
              <a:rPr sz="1725" b="0">
                <a:solidFill>
                  <a:srgbClr val="536273"/>
                </a:solidFill>
              </a:rPr>
              <a:t>観光・交通・飲食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67E66F3-CA17-47C0-877F-00C7C642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25" y="7620000"/>
            <a:ext cx="2857500" cy="2428875"/>
          </a:xfrm>
          <a:prstGeom xmlns:a="http://schemas.openxmlformats.org/drawingml/2006/main" prst="roundRect">
            <a:avLst>
              <a:gd name="adj" fmla="val 862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19050">
            <a:solidFill>
              <a:srgbClr val="0070C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189EB83-B25B-46A3-97BD-383567C1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6575" y="7858125"/>
            <a:ext cx="251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③ AI生成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94B5983-A925-43F8-BFF2-4979A92A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4675" y="8572500"/>
            <a:ext cx="2438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36273"/>
                </a:solidFill>
              </a:defRPr>
            </a:pPr>
            <a:r>
              <a:rPr sz="1725" b="0">
                <a:solidFill>
                  <a:srgbClr val="536273"/>
                </a:solidFill>
              </a:rPr>
              <a:t>時刻・移動・住所を含む</a:t>
            </a:r>
          </a:p>
          <a:p xmlns:a="http://schemas.openxmlformats.org/drawingml/2006/main">
            <a:pPr algn="ctr">
              <a:defRPr sz="1725" b="0">
                <a:solidFill>
                  <a:srgbClr val="536273"/>
                </a:solidFill>
              </a:defRPr>
            </a:pPr>
            <a:r>
              <a:rPr sz="1725" b="0">
                <a:solidFill>
                  <a:srgbClr val="536273"/>
                </a:solidFill>
              </a:rPr>
              <a:t>実行可能な行程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FAC76FD-1036-4FD9-AF6C-0E7974C6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0" y="7620000"/>
            <a:ext cx="2857500" cy="2428875"/>
          </a:xfrm>
          <a:prstGeom xmlns:a="http://schemas.openxmlformats.org/drawingml/2006/main" prst="roundRect">
            <a:avLst>
              <a:gd name="adj" fmla="val 862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19050">
            <a:solidFill>
              <a:srgbClr val="0070C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A154890-4CA1-400E-B710-A406D852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700" y="7858125"/>
            <a:ext cx="251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④ 比較・決定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EB5A1D1-A30F-4947-96B1-2189003E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0" y="8572500"/>
            <a:ext cx="2438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36273"/>
                </a:solidFill>
              </a:defRPr>
            </a:pPr>
            <a:r>
              <a:rPr sz="1725" b="0">
                <a:solidFill>
                  <a:srgbClr val="536273"/>
                </a:solidFill>
              </a:rPr>
              <a:t>3案を提示</a:t>
            </a:r>
          </a:p>
          <a:p xmlns:a="http://schemas.openxmlformats.org/drawingml/2006/main">
            <a:pPr algn="ctr">
              <a:defRPr sz="1725" b="0">
                <a:solidFill>
                  <a:srgbClr val="536273"/>
                </a:solidFill>
              </a:defRPr>
            </a:pPr>
            <a:r>
              <a:rPr sz="1725" b="0">
                <a:solidFill>
                  <a:srgbClr val="536273"/>
                </a:solidFill>
              </a:rPr>
              <a:t>参加者が投票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6B43205-F59F-4749-AEDB-83FB98EC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2275" y="8334375"/>
            <a:ext cx="47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70C0"/>
                </a:solidFill>
              </a:defRPr>
            </a:pPr>
            <a:r>
              <a:rPr sz="2550" b="1">
                <a:solidFill>
                  <a:srgbClr val="0070C0"/>
                </a:solidFill>
              </a:rPr>
              <a:t>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50A93C7-C8D2-434C-A2B1-FD9DA81B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0" y="8334375"/>
            <a:ext cx="47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70C0"/>
                </a:solidFill>
              </a:defRPr>
            </a:pPr>
            <a:r>
              <a:rPr sz="2550" b="1">
                <a:solidFill>
                  <a:srgbClr val="0070C0"/>
                </a:solidFill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6AEF25B-782B-4648-AFB8-F5A3B637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74525" y="8334375"/>
            <a:ext cx="47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70C0"/>
                </a:solidFill>
              </a:defRPr>
            </a:pPr>
            <a:r>
              <a:rPr sz="2550" b="1">
                <a:solidFill>
                  <a:srgbClr val="0070C0"/>
                </a:solidFill>
              </a:rPr>
              <a:t>→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FD31427-4D51-4966-BD77-497AA09D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8125" y="14478000"/>
            <a:ext cx="12573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F2937"/>
                </a:solidFill>
              </a:defRPr>
            </a:pPr>
            <a:r>
              <a:rPr sz="2100" b="0">
                <a:solidFill>
                  <a:srgbClr val="1F2937"/>
                </a:solidFill>
              </a:rPr>
              <a:t>● 最新Web情報を使い、検索結果の住所・開催日を確認</a:t>
            </a:r>
          </a:p>
          <a:p xmlns:a="http://schemas.openxmlformats.org/drawingml/2006/main">
            <a:pPr algn="l">
              <a:defRPr sz="2100" b="0">
                <a:solidFill>
                  <a:srgbClr val="1F2937"/>
                </a:solidFill>
              </a:defRPr>
            </a:pPr>
            <a:r>
              <a:rPr sz="2100" b="0">
                <a:solidFill>
                  <a:srgbClr val="1F2937"/>
                </a:solidFill>
              </a:rPr>
              <a:t>● 出発地からの移動時間を含む時刻付きタイムライン</a:t>
            </a:r>
          </a:p>
          <a:p xmlns:a="http://schemas.openxmlformats.org/drawingml/2006/main">
            <a:pPr algn="l">
              <a:defRPr sz="2100" b="0">
                <a:solidFill>
                  <a:srgbClr val="1F2937"/>
                </a:solidFill>
              </a:defRPr>
            </a:pPr>
            <a:r>
              <a:rPr sz="2100" b="0">
                <a:solidFill>
                  <a:srgbClr val="1F2937"/>
                </a:solidFill>
              </a:rPr>
              <a:t>● 近隣スポットをまとめ、無駄な往復を抑制</a:t>
            </a:r>
          </a:p>
          <a:p xmlns:a="http://schemas.openxmlformats.org/drawingml/2006/main">
            <a:pPr algn="l">
              <a:defRPr sz="2100" b="0">
                <a:solidFill>
                  <a:srgbClr val="1F2937"/>
                </a:solidFill>
              </a:defRPr>
            </a:pPr>
            <a:r>
              <a:rPr sz="2100" b="0">
                <a:solidFill>
                  <a:srgbClr val="1F2937"/>
                </a:solidFill>
              </a:rPr>
              <a:t>● グループの共通希望・対立点・妥協案を可視化</a:t>
            </a:r>
          </a:p>
          <a:p xmlns:a="http://schemas.openxmlformats.org/drawingml/2006/main">
            <a:pPr algn="l">
              <a:defRPr sz="2100" b="0">
                <a:solidFill>
                  <a:srgbClr val="1F2937"/>
                </a:solidFill>
              </a:defRPr>
            </a:pPr>
            <a:r>
              <a:rPr sz="2100" b="0">
                <a:solidFill>
                  <a:srgbClr val="1F2937"/>
                </a:solidFill>
              </a:rPr>
              <a:t>● 生成結果をJSONスキーマで検証し、UIへ表示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91FA27C-9681-43B8-93C2-2244AAD1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288125"/>
            <a:ext cx="2333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Mastra（エージェント）　｜　Gemini 3.1 Flash Lite（LLM）　｜　Tavily（Web検索）</a:t>
            </a:r>
          </a:p>
          <a:p xmlns:a="http://schemas.openxmlformats.org/drawingml/2006/main">
            <a:pPr algn="l">
              <a:defRPr sz="2025" b="1">
                <a:solidFill>
                  <a:srgbClr val="17365D"/>
                </a:solidFill>
              </a:defRPr>
            </a:pPr>
            <a:r>
              <a:rPr sz="2025" b="1">
                <a:solidFill>
                  <a:srgbClr val="17365D"/>
                </a:solidFill>
              </a:rPr>
              <a:t>Hot Pepper Gourmet API（飲食店）　｜　React + Vite（UI）　｜　LibSQL（個人プラン保存）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EB0A9A4-403E-4367-9B4E-498C93FA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507325"/>
            <a:ext cx="12801600" cy="5286375"/>
          </a:xfrm>
          <a:prstGeom xmlns:a="http://schemas.openxmlformats.org/drawingml/2006/main" prst="roundRect">
            <a:avLst>
              <a:gd name="adj" fmla="val 2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7D6"/>
            </a:solidFill>
            <a:prstDash val="solid"/>
          </a:ln>
        </p:spPr>
      </p:sp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d623c34b945c6"/>
          <a:srcRect xmlns:a="http://schemas.openxmlformats.org/drawingml/2006/main" l="0" t="16286" r="0" b="162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14500" y="20621625"/>
            <a:ext cx="12573000" cy="4905375"/>
          </a:xfrm>
          <a:prstGeom xmlns:a="http://schemas.openxmlformats.org/drawingml/2006/main" prst="roundRect">
            <a:avLst>
              <a:gd name="adj" fmla="val 2330"/>
            </a:avLst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00D9DD2-D0C4-46AC-877A-F70B7512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841325"/>
            <a:ext cx="1257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70C0"/>
                </a:solidFill>
              </a:defRPr>
            </a:pPr>
            <a:r>
              <a:rPr sz="1875" b="1">
                <a:solidFill>
                  <a:srgbClr val="0070C0"/>
                </a:solidFill>
              </a:rPr>
              <a:t>① モード選択｜個人旅行またはグループ旅行を選ぶ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8C3F7D5-A265-4441-9FBE-7C73BFFE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20507325"/>
            <a:ext cx="12801600" cy="5286375"/>
          </a:xfrm>
          <a:prstGeom xmlns:a="http://schemas.openxmlformats.org/drawingml/2006/main" prst="roundRect">
            <a:avLst>
              <a:gd name="adj" fmla="val 2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7D6"/>
            </a:solidFill>
            <a:prstDash val="solid"/>
          </a:ln>
        </p:spPr>
      </p:sp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4a55fddb0040ad"/>
          <a:stretch xmlns:a="http://schemas.openxmlformats.org/drawingml/2006/main"/>
        </p:blipFill>
        <p:spPr>
          <a:xfrm xmlns:a="http://schemas.openxmlformats.org/drawingml/2006/main">
            <a:off x="18435808" y="20621625"/>
            <a:ext cx="6181384" cy="4905375"/>
          </a:xfrm>
          <a:prstGeom xmlns:a="http://schemas.openxmlformats.org/drawingml/2006/main" prst="roundRect">
            <a:avLst>
              <a:gd name="adj" fmla="val 2330"/>
            </a:avLst>
          </a:prstGeom>
        </p:spPr>
      </p:pic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26E04F6-A791-47EA-8C0F-D28ADA4D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25841325"/>
            <a:ext cx="1257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70C0"/>
                </a:solidFill>
              </a:defRPr>
            </a:pPr>
            <a:r>
              <a:rPr sz="1875" b="1">
                <a:solidFill>
                  <a:srgbClr val="0070C0"/>
                </a:solidFill>
              </a:rPr>
              <a:t>② 希望入力｜日程・予算・ペース・必須条件を共有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46B39FB-E55A-4D98-8116-0319B628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936700"/>
            <a:ext cx="12801600" cy="5286375"/>
          </a:xfrm>
          <a:prstGeom xmlns:a="http://schemas.openxmlformats.org/drawingml/2006/main" prst="roundRect">
            <a:avLst>
              <a:gd name="adj" fmla="val 2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7D6"/>
            </a:solidFill>
            <a:prstDash val="solid"/>
          </a:ln>
        </p:spPr>
      </p:sp>
      <p:pic>
        <p:nvPicPr>
          <p:cNvPr id="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7752a54fa4ddd"/>
          <a:stretch xmlns:a="http://schemas.openxmlformats.org/drawingml/2006/main"/>
        </p:blipFill>
        <p:spPr>
          <a:xfrm xmlns:a="http://schemas.openxmlformats.org/drawingml/2006/main">
            <a:off x="3812078" y="27051000"/>
            <a:ext cx="8377845" cy="4905375"/>
          </a:xfrm>
          <a:prstGeom xmlns:a="http://schemas.openxmlformats.org/drawingml/2006/main" prst="roundRect">
            <a:avLst>
              <a:gd name="adj" fmla="val 2330"/>
            </a:avLst>
          </a:prstGeom>
        </p:spPr>
      </p:pic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096D3EE-42B3-4EDD-A357-AEC1170A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270700"/>
            <a:ext cx="1257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70C0"/>
                </a:solidFill>
              </a:defRPr>
            </a:pPr>
            <a:r>
              <a:rPr sz="1875" b="1">
                <a:solidFill>
                  <a:srgbClr val="0070C0"/>
                </a:solidFill>
              </a:rPr>
              <a:t>③ 個人プラン｜会話から時刻・移動・住所付き行程を生成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4D1F123-371D-4D42-9D44-79E7F9DE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26936700"/>
            <a:ext cx="12801600" cy="5286375"/>
          </a:xfrm>
          <a:prstGeom xmlns:a="http://schemas.openxmlformats.org/drawingml/2006/main" prst="roundRect">
            <a:avLst>
              <a:gd name="adj" fmla="val 2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C7D6"/>
            </a:solidFill>
            <a:prstDash val="solid"/>
          </a:ln>
        </p:spPr>
      </p:sp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f08cc593f4d77"/>
          <a:stretch xmlns:a="http://schemas.openxmlformats.org/drawingml/2006/main"/>
        </p:blipFill>
        <p:spPr>
          <a:xfrm xmlns:a="http://schemas.openxmlformats.org/drawingml/2006/main">
            <a:off x="18453024" y="27051000"/>
            <a:ext cx="6146953" cy="4905375"/>
          </a:xfrm>
          <a:prstGeom xmlns:a="http://schemas.openxmlformats.org/drawingml/2006/main" prst="roundRect">
            <a:avLst>
              <a:gd name="adj" fmla="val 2330"/>
            </a:avLst>
          </a:prstGeom>
        </p:spPr>
      </p:pic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D127854-5B8A-493E-9C4B-E969C0FF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2270700"/>
            <a:ext cx="1257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70C0"/>
                </a:solidFill>
              </a:defRPr>
            </a:pPr>
            <a:r>
              <a:rPr sz="1875" b="1">
                <a:solidFill>
                  <a:srgbClr val="0070C0"/>
                </a:solidFill>
              </a:rPr>
              <a:t>④ グループ決定｜3案と妥協点を比較し、投票で確定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3791D89-62AD-4628-A371-14A32C2A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004625"/>
            <a:ext cx="12287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65D"/>
                </a:solidFill>
              </a:defRPr>
            </a:pPr>
            <a:r>
              <a:rPr sz="2175" b="1">
                <a:solidFill>
                  <a:srgbClr val="17365D"/>
                </a:solidFill>
              </a:rPr>
              <a:t>旅行条件を自然言語で受け取り、情報検索から行程作成までを一貫して自動化した。</a:t>
            </a:r>
          </a:p>
          <a:p xmlns:a="http://schemas.openxmlformats.org/drawingml/2006/main">
            <a:pPr algn="l">
              <a:defRPr sz="2175" b="1">
                <a:solidFill>
                  <a:srgbClr val="17365D"/>
                </a:solidFill>
              </a:defRPr>
            </a:pPr>
            <a:r>
              <a:rPr sz="2175" b="1">
                <a:solidFill>
                  <a:srgbClr val="17365D"/>
                </a:solidFill>
              </a:rPr>
              <a:t>個人向けでは具体的な時刻・移動・住所を含むプランを提示し、グループ向けでは複数人の希望を整理した3案を比較・投票できる。</a:t>
            </a:r>
          </a:p>
          <a:p xmlns:a="http://schemas.openxmlformats.org/drawingml/2006/main">
            <a:pPr algn="l">
              <a:defRPr sz="2175" b="1">
                <a:solidFill>
                  <a:srgbClr val="17365D"/>
                </a:solidFill>
              </a:defRPr>
            </a:pPr>
            <a:r>
              <a:rPr sz="2175" b="1">
                <a:solidFill>
                  <a:srgbClr val="17365D"/>
                </a:solidFill>
              </a:rPr>
              <a:t>これにより、情報収集と合意形成にかかる負担を減らし、旅行計画の開始から決定までを支援できる。</a:t>
            </a:r>
          </a:p>
        </p:txBody>
      </p:sp>
    </p:spTree>
    <p:extLst>
      <p:ext uri="{BB962C8B-B14F-4D97-AF65-F5344CB8AC3E}">
        <p14:creationId xmlns:p14="http://schemas.microsoft.com/office/powerpoint/2010/main" val="3830254798"/>
      </p:ext>
    </p:extLst>
  </p:cSld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2026-07-30T09:11:10.1480000Z</dcterms:created>
  <dcterms:modified xsi:type="dcterms:W3CDTF">2026-07-30T09:11:10.1480000Z</dcterms:modified>
</coreProperties>
</file>